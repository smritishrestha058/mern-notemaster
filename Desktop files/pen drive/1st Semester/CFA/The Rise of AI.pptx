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1" r:id="rId7"/>
    <p:sldId id="263" r:id="rId8"/>
    <p:sldId id="276" r:id="rId9"/>
    <p:sldId id="271" r:id="rId10"/>
    <p:sldId id="277" r:id="rId11"/>
    <p:sldId id="272" r:id="rId12"/>
  </p:sldIdLst>
  <p:sldSz cx="18288000" cy="10287000"/>
  <p:notesSz cx="6858000" cy="9144000"/>
  <p:embeddedFontLst>
    <p:embeddedFont>
      <p:font typeface="Rasputin Light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TT Commons Pro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595" autoAdjust="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3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59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92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02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13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38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2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120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13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6BA7B-7CD1-4A12-85C9-25580D6E8E04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F0A01-8945-42F1-A1EE-13C5DA95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5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slide" Target="slide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6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2669" y="2854437"/>
            <a:ext cx="12002662" cy="366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99"/>
              </a:lnSpc>
            </a:pPr>
            <a:r>
              <a:rPr lang="en-US" sz="12999" dirty="0">
                <a:solidFill>
                  <a:srgbClr val="FFFFFF"/>
                </a:solidFill>
                <a:latin typeface="Rasputin Light"/>
              </a:rPr>
              <a:t>The Rise of</a:t>
            </a:r>
          </a:p>
          <a:p>
            <a:pPr algn="ctr">
              <a:lnSpc>
                <a:spcPts val="14300"/>
              </a:lnSpc>
            </a:pPr>
            <a:r>
              <a:rPr lang="en-US" sz="13000" dirty="0">
                <a:solidFill>
                  <a:srgbClr val="FFFFFF"/>
                </a:solidFill>
                <a:latin typeface="Rasputin Light"/>
              </a:rPr>
              <a:t>AI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-2209800" y="-3845557"/>
            <a:ext cx="8857785" cy="852561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 rot="6653687">
            <a:off x="10166505" y="4129872"/>
            <a:ext cx="9957653" cy="866315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 rot="4726396">
            <a:off x="-2659134" y="-900023"/>
            <a:ext cx="5318268" cy="842953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 rot="2788089">
            <a:off x="16062525" y="2478011"/>
            <a:ext cx="6565563" cy="10406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-3886200" y="-1652939"/>
            <a:ext cx="13958156" cy="1343472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 rot="-7005215">
            <a:off x="9612070" y="2813606"/>
            <a:ext cx="8946815" cy="1418083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09563" y="3041380"/>
            <a:ext cx="9220200" cy="2949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519"/>
              </a:lnSpc>
            </a:pPr>
            <a:r>
              <a:rPr lang="en-US" sz="9600" dirty="0" smtClean="0">
                <a:solidFill>
                  <a:srgbClr val="FFFFFF"/>
                </a:solidFill>
                <a:latin typeface="Rasputin Light"/>
              </a:rPr>
              <a:t>ARTIFICIAL</a:t>
            </a:r>
          </a:p>
          <a:p>
            <a:pPr>
              <a:lnSpc>
                <a:spcPts val="11519"/>
              </a:lnSpc>
            </a:pPr>
            <a:r>
              <a:rPr lang="en-US" sz="9600" dirty="0" smtClean="0">
                <a:solidFill>
                  <a:srgbClr val="FFFFFF"/>
                </a:solidFill>
                <a:latin typeface="Rasputin Light"/>
              </a:rPr>
              <a:t>INTELLIGENCE</a:t>
            </a:r>
            <a:endParaRPr lang="en-US" sz="9600" dirty="0">
              <a:solidFill>
                <a:srgbClr val="FFFFFF"/>
              </a:solidFill>
              <a:latin typeface="Rasputin Light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972800" y="2800069"/>
            <a:ext cx="6939786" cy="4624070"/>
            <a:chOff x="-38929" y="-95250"/>
            <a:chExt cx="9253048" cy="616542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677505"/>
              <a:ext cx="8300476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  <a:hlinkClick r:id="rId6" action="ppaction://hlinksldjump"/>
                </a:rPr>
                <a:t>Introductio</a:t>
              </a:r>
              <a:r>
                <a:rPr lang="en-US" sz="2799" u="sng" dirty="0" smtClean="0">
                  <a:solidFill>
                    <a:srgbClr val="142414"/>
                  </a:solidFill>
                  <a:latin typeface="TT Commons Pro"/>
                  <a:hlinkClick r:id="rId6" action="ppaction://hlinksldjump"/>
                </a:rPr>
                <a:t>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38929" y="4306213"/>
              <a:ext cx="8300476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2799" dirty="0" smtClean="0">
                  <a:solidFill>
                    <a:srgbClr val="FF0000"/>
                  </a:solidFill>
                  <a:latin typeface="TT Commons Pro"/>
                  <a:hlinkClick r:id="" action="ppaction://noaction"/>
                </a:rPr>
                <a:t>Advantages</a:t>
              </a:r>
              <a:r>
                <a:rPr lang="en-US" sz="2799" dirty="0" smtClean="0">
                  <a:solidFill>
                    <a:srgbClr val="142414"/>
                  </a:solidFill>
                  <a:latin typeface="TT Commons Pro"/>
                  <a:hlinkClick r:id="" action="ppaction://noaction"/>
                </a:rPr>
                <a:t>/ disadvantages</a:t>
              </a:r>
              <a:endParaRPr lang="en-US" sz="2799" dirty="0">
                <a:solidFill>
                  <a:srgbClr val="142414"/>
                </a:solidFill>
                <a:latin typeface="TT Commons Pro"/>
                <a:hlinkClick r:id="" action="ppaction://noaction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923890"/>
              <a:ext cx="8300476" cy="653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  <a:hlinkClick r:id="rId7" action="ppaction://hlinksldjump"/>
                </a:rPr>
                <a:t>Types of AI</a:t>
              </a:r>
              <a:endParaRPr lang="en-US" sz="2799" dirty="0">
                <a:solidFill>
                  <a:srgbClr val="142414"/>
                </a:solidFill>
                <a:latin typeface="TT Commons Pro"/>
                <a:hlinkClick r:id="rId7" action="ppaction://hlinksldjump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729" y="5416665"/>
              <a:ext cx="8300476" cy="653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endParaRPr lang="en-US" sz="2799" u="sng" dirty="0">
                <a:solidFill>
                  <a:srgbClr val="142414"/>
                </a:solidFill>
                <a:latin typeface="TT Commons Pro"/>
                <a:hlinkClick r:id="" action="ppaction://noaction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9214119" cy="1009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300"/>
                </a:lnSpc>
              </a:pPr>
              <a:r>
                <a:rPr lang="en-US" sz="4500" dirty="0">
                  <a:solidFill>
                    <a:srgbClr val="142414"/>
                  </a:solidFill>
                  <a:latin typeface="Rasputin Light"/>
                </a:rPr>
                <a:t>Topics Covered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896600" y="7012961"/>
            <a:ext cx="449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solidFill>
                  <a:srgbClr val="0070C0"/>
                </a:solidFill>
                <a:latin typeface="TT Commons Pro" panose="020B0604020202020204" charset="0"/>
              </a:rPr>
              <a:t>The future of AI</a:t>
            </a:r>
          </a:p>
          <a:p>
            <a:endParaRPr lang="en-US" sz="2800" dirty="0">
              <a:latin typeface="TT Commons Pro" panose="020B06040202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7562" y="7814547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0070C0"/>
                </a:solidFill>
                <a:latin typeface="TT Commons Pro" panose="020B0604020202020204" charset="0"/>
              </a:rPr>
              <a:t>C</a:t>
            </a:r>
            <a:r>
              <a:rPr lang="en-US" sz="2800" u="sng" dirty="0" smtClean="0">
                <a:solidFill>
                  <a:srgbClr val="0070C0"/>
                </a:solidFill>
                <a:latin typeface="TT Commons Pro" panose="020B0604020202020204" charset="0"/>
              </a:rPr>
              <a:t>onclusion</a:t>
            </a:r>
            <a:endParaRPr lang="en-US" sz="2800" u="sng" dirty="0">
              <a:solidFill>
                <a:srgbClr val="0070C0"/>
              </a:solidFill>
              <a:latin typeface="TT Commons Pro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6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5867400" y="-2933700"/>
            <a:ext cx="8857785" cy="852561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 rot="4243551">
            <a:off x="6482385" y="4794886"/>
            <a:ext cx="5915271" cy="937578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406402" y="1866900"/>
            <a:ext cx="9261598" cy="6073785"/>
            <a:chOff x="0" y="-19050"/>
            <a:chExt cx="10820400" cy="8098378"/>
          </a:xfrm>
        </p:grpSpPr>
        <p:sp>
          <p:nvSpPr>
            <p:cNvPr id="5" name="TextBox 5"/>
            <p:cNvSpPr txBox="1"/>
            <p:nvPr/>
          </p:nvSpPr>
          <p:spPr>
            <a:xfrm>
              <a:off x="0" y="2334166"/>
              <a:ext cx="10820400" cy="5745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FFFFFF"/>
                  </a:solidFill>
                  <a:latin typeface="TT Commons Pro"/>
                </a:rPr>
                <a:t>The </a:t>
              </a:r>
              <a:r>
                <a:rPr lang="en-US" sz="2799" dirty="0">
                  <a:solidFill>
                    <a:srgbClr val="FFFFFF"/>
                  </a:solidFill>
                  <a:latin typeface="TT Commons Pro"/>
                </a:rPr>
                <a:t>stimulation of  human intelligence in </a:t>
              </a:r>
              <a:r>
                <a:rPr lang="en-US" sz="2799" dirty="0" smtClean="0">
                  <a:solidFill>
                    <a:srgbClr val="FFFFFF"/>
                  </a:solidFill>
                  <a:latin typeface="TT Commons Pro"/>
                </a:rPr>
                <a:t>machines that </a:t>
              </a:r>
              <a:r>
                <a:rPr lang="en-US" sz="2799" dirty="0">
                  <a:solidFill>
                    <a:srgbClr val="FFFFFF"/>
                  </a:solidFill>
                  <a:latin typeface="TT Commons Pro"/>
                </a:rPr>
                <a:t>are programmed to think and act like </a:t>
              </a:r>
              <a:r>
                <a:rPr lang="en-US" sz="2799" dirty="0" smtClean="0">
                  <a:solidFill>
                    <a:srgbClr val="FFFFFF"/>
                  </a:solidFill>
                  <a:latin typeface="TT Commons Pro"/>
                </a:rPr>
                <a:t>humans,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FFFFFF"/>
                  </a:solidFill>
                  <a:latin typeface="TT Commons Pro"/>
                </a:rPr>
                <a:t>Used in wide range of applications like self driving cars and virtual assistants,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FFFFFF"/>
                  </a:solidFill>
                  <a:latin typeface="TT Commons Pro"/>
                </a:rPr>
                <a:t>Can perform tasks that require human intelligence like decision making, problem solving, learning, reasoning, etc.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endParaRPr lang="en-US" sz="2799" dirty="0">
                <a:solidFill>
                  <a:srgbClr val="FFFFFF"/>
                </a:solidFill>
                <a:latin typeface="TT Commons Pro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820400" cy="1966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519"/>
                </a:lnSpc>
              </a:pPr>
              <a:r>
                <a:rPr lang="en-US" sz="8000" dirty="0" smtClean="0">
                  <a:solidFill>
                    <a:srgbClr val="FFFFFF"/>
                  </a:solidFill>
                  <a:latin typeface="Rasputin Light"/>
                </a:rPr>
                <a:t>Introduction to AI</a:t>
              </a:r>
              <a:endParaRPr lang="en-US" sz="8000" dirty="0">
                <a:solidFill>
                  <a:srgbClr val="FFFFFF"/>
                </a:solidFill>
                <a:latin typeface="Rasputin Light"/>
              </a:endParaRPr>
            </a:p>
          </p:txBody>
        </p:sp>
      </p:grpSp>
      <p:sp>
        <p:nvSpPr>
          <p:cNvPr id="8" name="Oval 7"/>
          <p:cNvSpPr/>
          <p:nvPr/>
        </p:nvSpPr>
        <p:spPr>
          <a:xfrm rot="729440">
            <a:off x="11015238" y="1470575"/>
            <a:ext cx="7052717" cy="7578758"/>
          </a:xfrm>
          <a:prstGeom prst="ellipse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0" y="1790700"/>
            <a:ext cx="10083230" cy="737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519"/>
              </a:lnSpc>
            </a:pPr>
            <a:r>
              <a:rPr lang="en-US" sz="8000" dirty="0" smtClean="0">
                <a:solidFill>
                  <a:schemeClr val="bg1"/>
                </a:solidFill>
                <a:latin typeface="Rasputin Light"/>
              </a:rPr>
              <a:t>Types of AI</a:t>
            </a:r>
          </a:p>
          <a:p>
            <a:pPr>
              <a:lnSpc>
                <a:spcPts val="11519"/>
              </a:lnSpc>
            </a:pPr>
            <a:endParaRPr lang="en-US" sz="8000" dirty="0" smtClean="0">
              <a:solidFill>
                <a:srgbClr val="142414"/>
              </a:solidFill>
              <a:latin typeface="Rasputin Light"/>
            </a:endParaRPr>
          </a:p>
          <a:p>
            <a:pPr>
              <a:lnSpc>
                <a:spcPts val="11519"/>
              </a:lnSpc>
            </a:pPr>
            <a:endParaRPr lang="en-US" sz="2800" dirty="0" smtClean="0">
              <a:solidFill>
                <a:srgbClr val="142414"/>
              </a:solidFill>
              <a:latin typeface="TT Commons Pro" panose="020B0604020202020204" charset="0"/>
            </a:endParaRPr>
          </a:p>
          <a:p>
            <a:pPr>
              <a:lnSpc>
                <a:spcPts val="11519"/>
              </a:lnSpc>
            </a:pPr>
            <a:endParaRPr lang="en-US" sz="8000" dirty="0" smtClean="0">
              <a:solidFill>
                <a:srgbClr val="142414"/>
              </a:solidFill>
              <a:latin typeface="Rasputin Light"/>
            </a:endParaRPr>
          </a:p>
          <a:p>
            <a:pPr algn="ctr">
              <a:lnSpc>
                <a:spcPts val="11519"/>
              </a:lnSpc>
            </a:pPr>
            <a:endParaRPr lang="en-US" sz="9600" dirty="0">
              <a:solidFill>
                <a:srgbClr val="142414"/>
              </a:solidFill>
              <a:latin typeface="Rasputin Light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-1016209">
            <a:off x="-727224" y="5058222"/>
            <a:ext cx="8901994" cy="1045755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8862409">
            <a:off x="11443547" y="-3756415"/>
            <a:ext cx="8901994" cy="1045755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 rot="6787978">
            <a:off x="9622349" y="-4470956"/>
            <a:ext cx="7755409" cy="122924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6893" y="3695700"/>
            <a:ext cx="9601200" cy="312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TT Commons Pro" panose="020B0604020202020204" charset="0"/>
              </a:rPr>
              <a:t>Narrow/ Weak AI: designed to perform specific tasks such as speech recognition, facial recognition and language recognition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TT Commons Pro" panose="020B0604020202020204" charset="0"/>
              </a:rPr>
              <a:t>General AI: Can perform any task a human can 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TT Commons Pro" panose="020B0604020202020204" charset="0"/>
              </a:rPr>
              <a:t>Super AI: can surpass human intelligence and can solve problems that are beyond human comprehension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TT Commons Pro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2900"/>
            <a:ext cx="168783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5400" dirty="0"/>
              <a:t>"</a:t>
            </a:r>
            <a:r>
              <a:rPr lang="en-US" sz="6000" dirty="0">
                <a:latin typeface="Rasputin Light" panose="020B0604020202020204" charset="0"/>
              </a:rPr>
              <a:t>Artificial intelligence will reach human levels by around 2029. Follow that out further to, say, 2045, we will have multiplied the intelligence, the human biological machine intelligence of our civilization a billion-fold</a:t>
            </a:r>
            <a:r>
              <a:rPr lang="en-US" sz="5400" dirty="0">
                <a:latin typeface="Rasputin Light" panose="020B0604020202020204" charset="0"/>
              </a:rPr>
              <a:t>."</a:t>
            </a:r>
            <a:endParaRPr lang="en-US" sz="5400" dirty="0">
              <a:solidFill>
                <a:srgbClr val="142414"/>
              </a:solidFill>
              <a:latin typeface="Rasputin Light" panose="020B0604020202020204" charset="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-4421762">
            <a:off x="10097818" y="3686697"/>
            <a:ext cx="8901994" cy="1045755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 rot="5704631">
            <a:off x="13053539" y="2229921"/>
            <a:ext cx="6144834" cy="97396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132184" y="8477399"/>
            <a:ext cx="11127116" cy="747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</a:pPr>
            <a:r>
              <a:rPr lang="en-US" sz="4500" dirty="0" smtClean="0">
                <a:solidFill>
                  <a:srgbClr val="142414"/>
                </a:solidFill>
                <a:latin typeface="Rasputin Light"/>
              </a:rPr>
              <a:t>— Ray Kurzweil, Inventor and Futurist</a:t>
            </a:r>
            <a:endParaRPr lang="en-US" sz="4500" dirty="0">
              <a:solidFill>
                <a:srgbClr val="142414"/>
              </a:solidFill>
              <a:latin typeface="Rasputin Light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 rot="-5822765">
            <a:off x="-1597075" y="7402747"/>
            <a:ext cx="4764940" cy="4699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-1016209">
            <a:off x="-1032023" y="4840641"/>
            <a:ext cx="8901994" cy="1045755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8862409">
            <a:off x="11782429" y="-3955305"/>
            <a:ext cx="8901994" cy="10457555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2600" y="2247900"/>
            <a:ext cx="11125200" cy="4369445"/>
            <a:chOff x="-256035" y="167125"/>
            <a:chExt cx="14833600" cy="5825924"/>
          </a:xfrm>
        </p:grpSpPr>
        <p:sp>
          <p:nvSpPr>
            <p:cNvPr id="5" name="TextBox 5"/>
            <p:cNvSpPr txBox="1"/>
            <p:nvPr/>
          </p:nvSpPr>
          <p:spPr>
            <a:xfrm>
              <a:off x="-256035" y="2402324"/>
              <a:ext cx="8300476" cy="359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Increased Efficiency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Cost Savings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Improved accuracy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Consistency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Reduced Error </a:t>
              </a:r>
              <a:endParaRPr lang="en-US" sz="2799" dirty="0">
                <a:solidFill>
                  <a:srgbClr val="142414"/>
                </a:solidFill>
                <a:latin typeface="TT Commons Pro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56035" y="167125"/>
              <a:ext cx="14833600" cy="19663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519"/>
                </a:lnSpc>
              </a:pPr>
              <a:r>
                <a:rPr lang="en-US" sz="9600" dirty="0" smtClean="0">
                  <a:solidFill>
                    <a:srgbClr val="142414"/>
                  </a:solidFill>
                  <a:latin typeface="Rasputin Light"/>
                </a:rPr>
                <a:t>Advantages of AI</a:t>
              </a:r>
              <a:endParaRPr lang="en-US" sz="9600" dirty="0">
                <a:solidFill>
                  <a:srgbClr val="142414"/>
                </a:solidFill>
                <a:latin typeface="Rasputin Ligh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-1016209">
            <a:off x="-890667" y="4921459"/>
            <a:ext cx="8901994" cy="1045755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8862409">
            <a:off x="11782429" y="-3955305"/>
            <a:ext cx="8901994" cy="10457555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2600" y="2476500"/>
            <a:ext cx="12801600" cy="3292227"/>
            <a:chOff x="-101600" y="-74696"/>
            <a:chExt cx="17068800" cy="4389634"/>
          </a:xfrm>
        </p:grpSpPr>
        <p:sp>
          <p:nvSpPr>
            <p:cNvPr id="5" name="TextBox 5"/>
            <p:cNvSpPr txBox="1"/>
            <p:nvPr/>
          </p:nvSpPr>
          <p:spPr>
            <a:xfrm>
              <a:off x="-63500" y="2160503"/>
              <a:ext cx="8432800" cy="21544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Job Loss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Potential misuse</a:t>
              </a:r>
            </a:p>
            <a:p>
              <a:pPr marL="457200" indent="-457200">
                <a:lnSpc>
                  <a:spcPts val="4199"/>
                </a:lnSpc>
                <a:buFont typeface="Arial" panose="020B0604020202020204" pitchFamily="34" charset="0"/>
                <a:buChar char="•"/>
              </a:pPr>
              <a:r>
                <a:rPr lang="en-US" sz="2799" dirty="0" smtClean="0">
                  <a:solidFill>
                    <a:srgbClr val="142414"/>
                  </a:solidFill>
                  <a:latin typeface="TT Commons Pro"/>
                </a:rPr>
                <a:t>Over reliance on machines</a:t>
              </a:r>
              <a:endParaRPr lang="en-US" sz="2799" dirty="0">
                <a:solidFill>
                  <a:srgbClr val="142414"/>
                </a:solidFill>
                <a:latin typeface="TT Commons Pro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01600" y="-74696"/>
              <a:ext cx="17068800" cy="19663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519"/>
                </a:lnSpc>
              </a:pPr>
              <a:r>
                <a:rPr lang="en-US" sz="9600" dirty="0" smtClean="0">
                  <a:solidFill>
                    <a:srgbClr val="142414"/>
                  </a:solidFill>
                  <a:latin typeface="Rasputin Light"/>
                </a:rPr>
                <a:t>Disadvantages of AI</a:t>
              </a:r>
              <a:endParaRPr lang="en-US" sz="9600" dirty="0">
                <a:solidFill>
                  <a:srgbClr val="142414"/>
                </a:solidFill>
                <a:latin typeface="Rasputin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0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2831187" y="732682"/>
            <a:ext cx="8857785" cy="852561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76400" y="3162300"/>
            <a:ext cx="102108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2799" dirty="0" smtClean="0">
                <a:solidFill>
                  <a:srgbClr val="142414"/>
                </a:solidFill>
                <a:latin typeface="TT Commons Pro"/>
              </a:rPr>
              <a:t>Is expected to bring greater automation in industries such as transportation, manufacturing, etc.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2799" dirty="0" smtClean="0">
                <a:solidFill>
                  <a:srgbClr val="142414"/>
                </a:solidFill>
                <a:latin typeface="TT Commons Pro"/>
              </a:rPr>
              <a:t>Is expected to have significant impacts on healthcare, such as improving diagnostics, personalized medication and drug discovery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2799" dirty="0" smtClean="0">
                <a:solidFill>
                  <a:srgbClr val="142414"/>
                </a:solidFill>
                <a:latin typeface="TT Commons Pro"/>
              </a:rPr>
              <a:t>Is expected to improve significantly in the upcoming years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2799" dirty="0" smtClean="0">
                <a:solidFill>
                  <a:srgbClr val="142414"/>
                </a:solidFill>
                <a:latin typeface="TT Commons Pro"/>
              </a:rPr>
              <a:t>Advancement in self driving cars</a:t>
            </a:r>
            <a:endParaRPr lang="en-US" sz="2799" dirty="0">
              <a:solidFill>
                <a:srgbClr val="142414"/>
              </a:solidFill>
              <a:latin typeface="TT Common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47800" y="1409700"/>
            <a:ext cx="12649200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519"/>
              </a:lnSpc>
            </a:pPr>
            <a:r>
              <a:rPr lang="en-US" sz="9600" dirty="0" smtClean="0">
                <a:solidFill>
                  <a:srgbClr val="142414"/>
                </a:solidFill>
                <a:latin typeface="Rasputin Light"/>
              </a:rPr>
              <a:t>THE FUTURE OF AI</a:t>
            </a:r>
            <a:endParaRPr lang="en-US" sz="9600" dirty="0">
              <a:solidFill>
                <a:srgbClr val="142414"/>
              </a:solidFill>
              <a:latin typeface="Rasputin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2831187" y="732682"/>
            <a:ext cx="8857785" cy="852561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76400" y="3162300"/>
            <a:ext cx="102108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2799" dirty="0" smtClean="0">
                <a:solidFill>
                  <a:srgbClr val="142414"/>
                </a:solidFill>
                <a:latin typeface="TT Commons Pro"/>
              </a:rPr>
              <a:t>AI is a powerful tool that can bring significant benefits for society and the economy with proper planning and consideration,</a:t>
            </a:r>
          </a:p>
          <a:p>
            <a:pPr marL="457200" indent="-457200">
              <a:lnSpc>
                <a:spcPts val="4199"/>
              </a:lnSpc>
              <a:buFont typeface="Arial" panose="020B0604020202020204" pitchFamily="34" charset="0"/>
              <a:buChar char="•"/>
            </a:pPr>
            <a:r>
              <a:rPr lang="en-US" sz="2799" dirty="0" smtClean="0">
                <a:solidFill>
                  <a:srgbClr val="142414"/>
                </a:solidFill>
                <a:latin typeface="TT Commons Pro"/>
              </a:rPr>
              <a:t>It has the potential to drive innovation, improve productivity and enhance our quality of life. </a:t>
            </a:r>
            <a:endParaRPr lang="en-US" sz="2799" dirty="0">
              <a:solidFill>
                <a:srgbClr val="142414"/>
              </a:solidFill>
              <a:latin typeface="TT Commons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47800" y="1409700"/>
            <a:ext cx="12649200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519"/>
              </a:lnSpc>
            </a:pPr>
            <a:r>
              <a:rPr lang="en-US" sz="9600" dirty="0" smtClean="0">
                <a:solidFill>
                  <a:srgbClr val="142414"/>
                </a:solidFill>
                <a:latin typeface="Rasputin Light"/>
              </a:rPr>
              <a:t>CONCLUSION</a:t>
            </a:r>
            <a:endParaRPr lang="en-US" sz="9600" dirty="0">
              <a:solidFill>
                <a:srgbClr val="142414"/>
              </a:solidFill>
              <a:latin typeface="Rasputin Light"/>
            </a:endParaRPr>
          </a:p>
        </p:txBody>
      </p:sp>
    </p:spTree>
    <p:extLst>
      <p:ext uri="{BB962C8B-B14F-4D97-AF65-F5344CB8AC3E}">
        <p14:creationId xmlns:p14="http://schemas.microsoft.com/office/powerpoint/2010/main" val="275066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6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30505" y="3081136"/>
            <a:ext cx="12002662" cy="3152672"/>
            <a:chOff x="0" y="114300"/>
            <a:chExt cx="16003549" cy="4203563"/>
          </a:xfrm>
        </p:grpSpPr>
        <p:sp>
          <p:nvSpPr>
            <p:cNvPr id="3" name="TextBox 3"/>
            <p:cNvSpPr txBox="1"/>
            <p:nvPr/>
          </p:nvSpPr>
          <p:spPr>
            <a:xfrm>
              <a:off x="1717595" y="3321008"/>
              <a:ext cx="12867462" cy="996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00"/>
                </a:lnSpc>
              </a:pPr>
              <a:endParaRPr lang="en-US" sz="4500" dirty="0">
                <a:solidFill>
                  <a:srgbClr val="FFFFFF"/>
                </a:solidFill>
                <a:latin typeface="Rasputin Ligh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4300"/>
              <a:ext cx="16003549" cy="2518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00"/>
                </a:lnSpc>
              </a:pPr>
              <a:r>
                <a:rPr lang="en-US" sz="13000" dirty="0">
                  <a:solidFill>
                    <a:srgbClr val="FFFFFF"/>
                  </a:solidFill>
                  <a:latin typeface="Rasputin Light"/>
                </a:rPr>
                <a:t>Thank you!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-2284790" y="-3746425"/>
            <a:ext cx="8857785" cy="85256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21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 rot="6653687">
            <a:off x="10166505" y="4129872"/>
            <a:ext cx="9957653" cy="866315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 rot="4726396">
            <a:off x="1565829" y="-4045273"/>
            <a:ext cx="5318268" cy="842953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 rot="5045464">
            <a:off x="10463264" y="6473304"/>
            <a:ext cx="5489002" cy="87001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288</Words>
  <Application>Microsoft Office PowerPoint</Application>
  <PresentationFormat>Custom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Rasputin Light</vt:lpstr>
      <vt:lpstr>Arial</vt:lpstr>
      <vt:lpstr>Calibri</vt:lpstr>
      <vt:lpstr>Calibri Light</vt:lpstr>
      <vt:lpstr>TT Commons Pro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of AI</dc:title>
  <dc:creator>User</dc:creator>
  <cp:lastModifiedBy>User</cp:lastModifiedBy>
  <cp:revision>13</cp:revision>
  <dcterms:created xsi:type="dcterms:W3CDTF">2006-08-16T00:00:00Z</dcterms:created>
  <dcterms:modified xsi:type="dcterms:W3CDTF">2023-05-07T13:17:00Z</dcterms:modified>
  <dc:identifier>DAFiM80l7W4</dc:identifier>
</cp:coreProperties>
</file>