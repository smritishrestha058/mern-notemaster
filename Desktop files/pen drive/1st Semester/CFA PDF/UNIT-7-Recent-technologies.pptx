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582"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4DE739-C5FC-4EFC-8B70-12E1C3C029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F9309058-BA27-4547-A76C-DB3409762A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F940AF08-606C-489E-BFB1-A284F645BCF3}"/>
              </a:ext>
            </a:extLst>
          </p:cNvPr>
          <p:cNvSpPr>
            <a:spLocks noGrp="1"/>
          </p:cNvSpPr>
          <p:nvPr>
            <p:ph type="dt" sz="half" idx="10"/>
          </p:nvPr>
        </p:nvSpPr>
        <p:spPr/>
        <p:txBody>
          <a:bodyPr/>
          <a:lstStyle/>
          <a:p>
            <a:fld id="{66CE6613-F0FF-4C36-8CF5-538286339DA0}" type="datetimeFigureOut">
              <a:rPr lang="en-US" smtClean="0"/>
              <a:t>1/22/2022</a:t>
            </a:fld>
            <a:endParaRPr lang="en-US"/>
          </a:p>
        </p:txBody>
      </p:sp>
      <p:sp>
        <p:nvSpPr>
          <p:cNvPr id="5" name="Footer Placeholder 4">
            <a:extLst>
              <a:ext uri="{FF2B5EF4-FFF2-40B4-BE49-F238E27FC236}">
                <a16:creationId xmlns:a16="http://schemas.microsoft.com/office/drawing/2014/main" xmlns="" id="{CB2788C5-ECDE-4677-B0C5-977DCB3987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34898FA9-D1A7-4D20-B305-C58A3DA9F053}"/>
              </a:ext>
            </a:extLst>
          </p:cNvPr>
          <p:cNvSpPr>
            <a:spLocks noGrp="1"/>
          </p:cNvSpPr>
          <p:nvPr>
            <p:ph type="sldNum" sz="quarter" idx="12"/>
          </p:nvPr>
        </p:nvSpPr>
        <p:spPr/>
        <p:txBody>
          <a:bodyPr/>
          <a:lstStyle/>
          <a:p>
            <a:fld id="{3E66DED7-7253-4849-B255-1CB1405DB11A}" type="slidenum">
              <a:rPr lang="en-US" smtClean="0"/>
              <a:t>‹#›</a:t>
            </a:fld>
            <a:endParaRPr lang="en-US"/>
          </a:p>
        </p:txBody>
      </p:sp>
    </p:spTree>
    <p:extLst>
      <p:ext uri="{BB962C8B-B14F-4D97-AF65-F5344CB8AC3E}">
        <p14:creationId xmlns:p14="http://schemas.microsoft.com/office/powerpoint/2010/main" val="30489250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D215D53-F3C9-4941-B419-F57316AF9C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877F0A1C-378B-41E9-9EF3-D8229BA98F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B635204C-86FD-4E58-A290-AABA9CEEB2FE}"/>
              </a:ext>
            </a:extLst>
          </p:cNvPr>
          <p:cNvSpPr>
            <a:spLocks noGrp="1"/>
          </p:cNvSpPr>
          <p:nvPr>
            <p:ph type="dt" sz="half" idx="10"/>
          </p:nvPr>
        </p:nvSpPr>
        <p:spPr/>
        <p:txBody>
          <a:bodyPr/>
          <a:lstStyle/>
          <a:p>
            <a:fld id="{66CE6613-F0FF-4C36-8CF5-538286339DA0}" type="datetimeFigureOut">
              <a:rPr lang="en-US" smtClean="0"/>
              <a:t>1/22/2022</a:t>
            </a:fld>
            <a:endParaRPr lang="en-US"/>
          </a:p>
        </p:txBody>
      </p:sp>
      <p:sp>
        <p:nvSpPr>
          <p:cNvPr id="5" name="Footer Placeholder 4">
            <a:extLst>
              <a:ext uri="{FF2B5EF4-FFF2-40B4-BE49-F238E27FC236}">
                <a16:creationId xmlns:a16="http://schemas.microsoft.com/office/drawing/2014/main" xmlns="" id="{F230565E-92A2-46AA-914E-1D306B2DF7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79CFEE1B-6D26-41D4-8A5B-78A68111E0D9}"/>
              </a:ext>
            </a:extLst>
          </p:cNvPr>
          <p:cNvSpPr>
            <a:spLocks noGrp="1"/>
          </p:cNvSpPr>
          <p:nvPr>
            <p:ph type="sldNum" sz="quarter" idx="12"/>
          </p:nvPr>
        </p:nvSpPr>
        <p:spPr/>
        <p:txBody>
          <a:bodyPr/>
          <a:lstStyle/>
          <a:p>
            <a:fld id="{3E66DED7-7253-4849-B255-1CB1405DB11A}" type="slidenum">
              <a:rPr lang="en-US" smtClean="0"/>
              <a:t>‹#›</a:t>
            </a:fld>
            <a:endParaRPr lang="en-US"/>
          </a:p>
        </p:txBody>
      </p:sp>
    </p:spTree>
    <p:extLst>
      <p:ext uri="{BB962C8B-B14F-4D97-AF65-F5344CB8AC3E}">
        <p14:creationId xmlns:p14="http://schemas.microsoft.com/office/powerpoint/2010/main" val="2906697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BB6973-11F4-4D62-9313-A85052CABC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573115DE-7E32-47B4-B91B-F1738F93A5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F60407C0-B782-4489-B331-212C080760D3}"/>
              </a:ext>
            </a:extLst>
          </p:cNvPr>
          <p:cNvSpPr>
            <a:spLocks noGrp="1"/>
          </p:cNvSpPr>
          <p:nvPr>
            <p:ph type="dt" sz="half" idx="10"/>
          </p:nvPr>
        </p:nvSpPr>
        <p:spPr/>
        <p:txBody>
          <a:bodyPr/>
          <a:lstStyle/>
          <a:p>
            <a:fld id="{66CE6613-F0FF-4C36-8CF5-538286339DA0}" type="datetimeFigureOut">
              <a:rPr lang="en-US" smtClean="0"/>
              <a:t>1/22/2022</a:t>
            </a:fld>
            <a:endParaRPr lang="en-US"/>
          </a:p>
        </p:txBody>
      </p:sp>
      <p:sp>
        <p:nvSpPr>
          <p:cNvPr id="5" name="Footer Placeholder 4">
            <a:extLst>
              <a:ext uri="{FF2B5EF4-FFF2-40B4-BE49-F238E27FC236}">
                <a16:creationId xmlns:a16="http://schemas.microsoft.com/office/drawing/2014/main" xmlns="" id="{357EE6DA-B51B-4795-9D55-5F4F51D869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48B0DBA0-1546-457C-9C2D-CAAF63DE61BF}"/>
              </a:ext>
            </a:extLst>
          </p:cNvPr>
          <p:cNvSpPr>
            <a:spLocks noGrp="1"/>
          </p:cNvSpPr>
          <p:nvPr>
            <p:ph type="sldNum" sz="quarter" idx="12"/>
          </p:nvPr>
        </p:nvSpPr>
        <p:spPr/>
        <p:txBody>
          <a:bodyPr/>
          <a:lstStyle/>
          <a:p>
            <a:fld id="{3E66DED7-7253-4849-B255-1CB1405DB11A}" type="slidenum">
              <a:rPr lang="en-US" smtClean="0"/>
              <a:t>‹#›</a:t>
            </a:fld>
            <a:endParaRPr lang="en-US"/>
          </a:p>
        </p:txBody>
      </p:sp>
    </p:spTree>
    <p:extLst>
      <p:ext uri="{BB962C8B-B14F-4D97-AF65-F5344CB8AC3E}">
        <p14:creationId xmlns:p14="http://schemas.microsoft.com/office/powerpoint/2010/main" val="962267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39FB3D-0858-4C4A-8BA6-B3DF2A136D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E5D97E70-344F-457F-B230-3463CC07A1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676433EE-AEEF-4607-B5C3-6798ACBCA88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74828ED1-BADE-41D7-A939-C185A51A581E}"/>
              </a:ext>
            </a:extLst>
          </p:cNvPr>
          <p:cNvSpPr>
            <a:spLocks noGrp="1"/>
          </p:cNvSpPr>
          <p:nvPr>
            <p:ph type="dt" sz="half" idx="10"/>
          </p:nvPr>
        </p:nvSpPr>
        <p:spPr/>
        <p:txBody>
          <a:bodyPr/>
          <a:lstStyle/>
          <a:p>
            <a:fld id="{66CE6613-F0FF-4C36-8CF5-538286339DA0}" type="datetimeFigureOut">
              <a:rPr lang="en-US" smtClean="0"/>
              <a:t>1/22/2022</a:t>
            </a:fld>
            <a:endParaRPr lang="en-US"/>
          </a:p>
        </p:txBody>
      </p:sp>
      <p:sp>
        <p:nvSpPr>
          <p:cNvPr id="6" name="Footer Placeholder 5">
            <a:extLst>
              <a:ext uri="{FF2B5EF4-FFF2-40B4-BE49-F238E27FC236}">
                <a16:creationId xmlns:a16="http://schemas.microsoft.com/office/drawing/2014/main" xmlns="" id="{BE1BD1D4-0193-45DE-BDDE-A79184A06D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309BFF89-8D75-4325-87B0-AD82B7ACCDEA}"/>
              </a:ext>
            </a:extLst>
          </p:cNvPr>
          <p:cNvSpPr>
            <a:spLocks noGrp="1"/>
          </p:cNvSpPr>
          <p:nvPr>
            <p:ph type="sldNum" sz="quarter" idx="12"/>
          </p:nvPr>
        </p:nvSpPr>
        <p:spPr/>
        <p:txBody>
          <a:bodyPr/>
          <a:lstStyle/>
          <a:p>
            <a:fld id="{3E66DED7-7253-4849-B255-1CB1405DB11A}" type="slidenum">
              <a:rPr lang="en-US" smtClean="0"/>
              <a:t>‹#›</a:t>
            </a:fld>
            <a:endParaRPr lang="en-US"/>
          </a:p>
        </p:txBody>
      </p:sp>
    </p:spTree>
    <p:extLst>
      <p:ext uri="{BB962C8B-B14F-4D97-AF65-F5344CB8AC3E}">
        <p14:creationId xmlns:p14="http://schemas.microsoft.com/office/powerpoint/2010/main" val="1388659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9C17DA0-5475-405B-B293-9E5C080F1FC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6EA81ADE-437D-4967-893D-1E7BE0A455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A619D3D5-3364-4446-B570-F7334935297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1E9636DC-FED9-47F3-9D20-E1365CAB1B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EB03980B-92DC-415D-89D5-C0D2DF9049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D02BF284-770C-440E-B75A-215524BD4E36}"/>
              </a:ext>
            </a:extLst>
          </p:cNvPr>
          <p:cNvSpPr>
            <a:spLocks noGrp="1"/>
          </p:cNvSpPr>
          <p:nvPr>
            <p:ph type="dt" sz="half" idx="10"/>
          </p:nvPr>
        </p:nvSpPr>
        <p:spPr/>
        <p:txBody>
          <a:bodyPr/>
          <a:lstStyle/>
          <a:p>
            <a:fld id="{66CE6613-F0FF-4C36-8CF5-538286339DA0}" type="datetimeFigureOut">
              <a:rPr lang="en-US" smtClean="0"/>
              <a:t>1/22/2022</a:t>
            </a:fld>
            <a:endParaRPr lang="en-US"/>
          </a:p>
        </p:txBody>
      </p:sp>
      <p:sp>
        <p:nvSpPr>
          <p:cNvPr id="8" name="Footer Placeholder 7">
            <a:extLst>
              <a:ext uri="{FF2B5EF4-FFF2-40B4-BE49-F238E27FC236}">
                <a16:creationId xmlns:a16="http://schemas.microsoft.com/office/drawing/2014/main" xmlns="" id="{C7BE34C5-49EF-4E07-920F-1B790F8C54F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6A6D8FCC-085D-4B46-9775-A301BC92CD42}"/>
              </a:ext>
            </a:extLst>
          </p:cNvPr>
          <p:cNvSpPr>
            <a:spLocks noGrp="1"/>
          </p:cNvSpPr>
          <p:nvPr>
            <p:ph type="sldNum" sz="quarter" idx="12"/>
          </p:nvPr>
        </p:nvSpPr>
        <p:spPr/>
        <p:txBody>
          <a:bodyPr/>
          <a:lstStyle/>
          <a:p>
            <a:fld id="{3E66DED7-7253-4849-B255-1CB1405DB11A}" type="slidenum">
              <a:rPr lang="en-US" smtClean="0"/>
              <a:t>‹#›</a:t>
            </a:fld>
            <a:endParaRPr lang="en-US"/>
          </a:p>
        </p:txBody>
      </p:sp>
    </p:spTree>
    <p:extLst>
      <p:ext uri="{BB962C8B-B14F-4D97-AF65-F5344CB8AC3E}">
        <p14:creationId xmlns:p14="http://schemas.microsoft.com/office/powerpoint/2010/main" val="3330284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313366-1232-4AD7-AA67-ABA06D206B3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EE208B05-D7E5-4614-86C6-7D98FBE63930}"/>
              </a:ext>
            </a:extLst>
          </p:cNvPr>
          <p:cNvSpPr>
            <a:spLocks noGrp="1"/>
          </p:cNvSpPr>
          <p:nvPr>
            <p:ph type="dt" sz="half" idx="10"/>
          </p:nvPr>
        </p:nvSpPr>
        <p:spPr/>
        <p:txBody>
          <a:bodyPr/>
          <a:lstStyle/>
          <a:p>
            <a:fld id="{66CE6613-F0FF-4C36-8CF5-538286339DA0}" type="datetimeFigureOut">
              <a:rPr lang="en-US" smtClean="0"/>
              <a:t>1/22/2022</a:t>
            </a:fld>
            <a:endParaRPr lang="en-US"/>
          </a:p>
        </p:txBody>
      </p:sp>
      <p:sp>
        <p:nvSpPr>
          <p:cNvPr id="4" name="Footer Placeholder 3">
            <a:extLst>
              <a:ext uri="{FF2B5EF4-FFF2-40B4-BE49-F238E27FC236}">
                <a16:creationId xmlns:a16="http://schemas.microsoft.com/office/drawing/2014/main" xmlns="" id="{9BA6BEFF-9409-4C7C-977C-B274F88D94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2D160257-8C1E-41D8-93C3-CDDA7BF2BF41}"/>
              </a:ext>
            </a:extLst>
          </p:cNvPr>
          <p:cNvSpPr>
            <a:spLocks noGrp="1"/>
          </p:cNvSpPr>
          <p:nvPr>
            <p:ph type="sldNum" sz="quarter" idx="12"/>
          </p:nvPr>
        </p:nvSpPr>
        <p:spPr/>
        <p:txBody>
          <a:bodyPr/>
          <a:lstStyle/>
          <a:p>
            <a:fld id="{3E66DED7-7253-4849-B255-1CB1405DB11A}" type="slidenum">
              <a:rPr lang="en-US" smtClean="0"/>
              <a:t>‹#›</a:t>
            </a:fld>
            <a:endParaRPr lang="en-US"/>
          </a:p>
        </p:txBody>
      </p:sp>
    </p:spTree>
    <p:extLst>
      <p:ext uri="{BB962C8B-B14F-4D97-AF65-F5344CB8AC3E}">
        <p14:creationId xmlns:p14="http://schemas.microsoft.com/office/powerpoint/2010/main" val="2271797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C61FCB05-1DB7-4F75-9CC1-2DABDA539F8E}"/>
              </a:ext>
            </a:extLst>
          </p:cNvPr>
          <p:cNvSpPr>
            <a:spLocks noGrp="1"/>
          </p:cNvSpPr>
          <p:nvPr>
            <p:ph type="dt" sz="half" idx="10"/>
          </p:nvPr>
        </p:nvSpPr>
        <p:spPr/>
        <p:txBody>
          <a:bodyPr/>
          <a:lstStyle/>
          <a:p>
            <a:fld id="{66CE6613-F0FF-4C36-8CF5-538286339DA0}" type="datetimeFigureOut">
              <a:rPr lang="en-US" smtClean="0"/>
              <a:t>1/22/2022</a:t>
            </a:fld>
            <a:endParaRPr lang="en-US"/>
          </a:p>
        </p:txBody>
      </p:sp>
      <p:sp>
        <p:nvSpPr>
          <p:cNvPr id="3" name="Footer Placeholder 2">
            <a:extLst>
              <a:ext uri="{FF2B5EF4-FFF2-40B4-BE49-F238E27FC236}">
                <a16:creationId xmlns:a16="http://schemas.microsoft.com/office/drawing/2014/main" xmlns="" id="{59F0A8F8-A35F-4CE8-8364-200A155DF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863C855E-6500-48D9-8AFD-5BC733384B35}"/>
              </a:ext>
            </a:extLst>
          </p:cNvPr>
          <p:cNvSpPr>
            <a:spLocks noGrp="1"/>
          </p:cNvSpPr>
          <p:nvPr>
            <p:ph type="sldNum" sz="quarter" idx="12"/>
          </p:nvPr>
        </p:nvSpPr>
        <p:spPr/>
        <p:txBody>
          <a:bodyPr/>
          <a:lstStyle/>
          <a:p>
            <a:fld id="{3E66DED7-7253-4849-B255-1CB1405DB11A}" type="slidenum">
              <a:rPr lang="en-US" smtClean="0"/>
              <a:t>‹#›</a:t>
            </a:fld>
            <a:endParaRPr lang="en-US"/>
          </a:p>
        </p:txBody>
      </p:sp>
    </p:spTree>
    <p:extLst>
      <p:ext uri="{BB962C8B-B14F-4D97-AF65-F5344CB8AC3E}">
        <p14:creationId xmlns:p14="http://schemas.microsoft.com/office/powerpoint/2010/main" val="3196148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42C896-E9B9-4D5D-8E7E-0FDA823453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46684B5F-6AFC-4A89-B8F9-C096BDB69F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7B48B00E-FB89-4F16-9A63-F12F0B9738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7ED9779D-4CE0-4D58-ABD7-2C6D3F8DF18F}"/>
              </a:ext>
            </a:extLst>
          </p:cNvPr>
          <p:cNvSpPr>
            <a:spLocks noGrp="1"/>
          </p:cNvSpPr>
          <p:nvPr>
            <p:ph type="dt" sz="half" idx="10"/>
          </p:nvPr>
        </p:nvSpPr>
        <p:spPr/>
        <p:txBody>
          <a:bodyPr/>
          <a:lstStyle/>
          <a:p>
            <a:fld id="{66CE6613-F0FF-4C36-8CF5-538286339DA0}" type="datetimeFigureOut">
              <a:rPr lang="en-US" smtClean="0"/>
              <a:t>1/22/2022</a:t>
            </a:fld>
            <a:endParaRPr lang="en-US"/>
          </a:p>
        </p:txBody>
      </p:sp>
      <p:sp>
        <p:nvSpPr>
          <p:cNvPr id="6" name="Footer Placeholder 5">
            <a:extLst>
              <a:ext uri="{FF2B5EF4-FFF2-40B4-BE49-F238E27FC236}">
                <a16:creationId xmlns:a16="http://schemas.microsoft.com/office/drawing/2014/main" xmlns="" id="{BDE40686-CDF2-4F59-AAC9-D8E8D57ADF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D0A8425B-9DF3-4167-A76A-D24BFA01DCE8}"/>
              </a:ext>
            </a:extLst>
          </p:cNvPr>
          <p:cNvSpPr>
            <a:spLocks noGrp="1"/>
          </p:cNvSpPr>
          <p:nvPr>
            <p:ph type="sldNum" sz="quarter" idx="12"/>
          </p:nvPr>
        </p:nvSpPr>
        <p:spPr/>
        <p:txBody>
          <a:bodyPr/>
          <a:lstStyle/>
          <a:p>
            <a:fld id="{3E66DED7-7253-4849-B255-1CB1405DB11A}" type="slidenum">
              <a:rPr lang="en-US" smtClean="0"/>
              <a:t>‹#›</a:t>
            </a:fld>
            <a:endParaRPr lang="en-US"/>
          </a:p>
        </p:txBody>
      </p:sp>
    </p:spTree>
    <p:extLst>
      <p:ext uri="{BB962C8B-B14F-4D97-AF65-F5344CB8AC3E}">
        <p14:creationId xmlns:p14="http://schemas.microsoft.com/office/powerpoint/2010/main" val="607292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FC05CC-561F-49D7-9DD6-D7E4CC4EAB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EB270A1A-875F-4C15-9925-E0C23ECA10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1AC22A49-9A96-451F-A802-5C99DF95BA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87B97825-C4D7-432B-A658-30998AD5DC73}"/>
              </a:ext>
            </a:extLst>
          </p:cNvPr>
          <p:cNvSpPr>
            <a:spLocks noGrp="1"/>
          </p:cNvSpPr>
          <p:nvPr>
            <p:ph type="dt" sz="half" idx="10"/>
          </p:nvPr>
        </p:nvSpPr>
        <p:spPr/>
        <p:txBody>
          <a:bodyPr/>
          <a:lstStyle/>
          <a:p>
            <a:fld id="{66CE6613-F0FF-4C36-8CF5-538286339DA0}" type="datetimeFigureOut">
              <a:rPr lang="en-US" smtClean="0"/>
              <a:t>1/22/2022</a:t>
            </a:fld>
            <a:endParaRPr lang="en-US"/>
          </a:p>
        </p:txBody>
      </p:sp>
      <p:sp>
        <p:nvSpPr>
          <p:cNvPr id="6" name="Footer Placeholder 5">
            <a:extLst>
              <a:ext uri="{FF2B5EF4-FFF2-40B4-BE49-F238E27FC236}">
                <a16:creationId xmlns:a16="http://schemas.microsoft.com/office/drawing/2014/main" xmlns="" id="{928BC659-C282-4251-86AF-42EFF9393B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56BD44B4-27C8-4E56-92F3-8816DEEF69B7}"/>
              </a:ext>
            </a:extLst>
          </p:cNvPr>
          <p:cNvSpPr>
            <a:spLocks noGrp="1"/>
          </p:cNvSpPr>
          <p:nvPr>
            <p:ph type="sldNum" sz="quarter" idx="12"/>
          </p:nvPr>
        </p:nvSpPr>
        <p:spPr/>
        <p:txBody>
          <a:bodyPr/>
          <a:lstStyle/>
          <a:p>
            <a:fld id="{3E66DED7-7253-4849-B255-1CB1405DB11A}" type="slidenum">
              <a:rPr lang="en-US" smtClean="0"/>
              <a:t>‹#›</a:t>
            </a:fld>
            <a:endParaRPr lang="en-US"/>
          </a:p>
        </p:txBody>
      </p:sp>
    </p:spTree>
    <p:extLst>
      <p:ext uri="{BB962C8B-B14F-4D97-AF65-F5344CB8AC3E}">
        <p14:creationId xmlns:p14="http://schemas.microsoft.com/office/powerpoint/2010/main" val="2935909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5A6177-798D-4DC1-931D-C3A56587558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2DB00706-828A-4828-80FB-044A2FDF2D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C7897849-8FF1-4E79-9A59-BFBD907C6C0C}"/>
              </a:ext>
            </a:extLst>
          </p:cNvPr>
          <p:cNvSpPr>
            <a:spLocks noGrp="1"/>
          </p:cNvSpPr>
          <p:nvPr>
            <p:ph type="dt" sz="half" idx="10"/>
          </p:nvPr>
        </p:nvSpPr>
        <p:spPr/>
        <p:txBody>
          <a:bodyPr/>
          <a:lstStyle/>
          <a:p>
            <a:fld id="{66CE6613-F0FF-4C36-8CF5-538286339DA0}" type="datetimeFigureOut">
              <a:rPr lang="en-US" smtClean="0"/>
              <a:t>1/22/2022</a:t>
            </a:fld>
            <a:endParaRPr lang="en-US"/>
          </a:p>
        </p:txBody>
      </p:sp>
      <p:sp>
        <p:nvSpPr>
          <p:cNvPr id="5" name="Footer Placeholder 4">
            <a:extLst>
              <a:ext uri="{FF2B5EF4-FFF2-40B4-BE49-F238E27FC236}">
                <a16:creationId xmlns:a16="http://schemas.microsoft.com/office/drawing/2014/main" xmlns="" id="{8BB327BE-463A-4F25-901F-33BE31C29C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F6426E82-E4F5-4FD5-B438-32CBEE083729}"/>
              </a:ext>
            </a:extLst>
          </p:cNvPr>
          <p:cNvSpPr>
            <a:spLocks noGrp="1"/>
          </p:cNvSpPr>
          <p:nvPr>
            <p:ph type="sldNum" sz="quarter" idx="12"/>
          </p:nvPr>
        </p:nvSpPr>
        <p:spPr/>
        <p:txBody>
          <a:bodyPr/>
          <a:lstStyle/>
          <a:p>
            <a:fld id="{3E66DED7-7253-4849-B255-1CB1405DB11A}" type="slidenum">
              <a:rPr lang="en-US" smtClean="0"/>
              <a:t>‹#›</a:t>
            </a:fld>
            <a:endParaRPr lang="en-US"/>
          </a:p>
        </p:txBody>
      </p:sp>
    </p:spTree>
    <p:extLst>
      <p:ext uri="{BB962C8B-B14F-4D97-AF65-F5344CB8AC3E}">
        <p14:creationId xmlns:p14="http://schemas.microsoft.com/office/powerpoint/2010/main" val="2995843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BE5EE22A-E727-426C-B121-14DE86A0B45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FE76A962-83F5-4BD9-AA30-E077AE504A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457BA302-31D8-4C27-92F6-820182DD33E0}"/>
              </a:ext>
            </a:extLst>
          </p:cNvPr>
          <p:cNvSpPr>
            <a:spLocks noGrp="1"/>
          </p:cNvSpPr>
          <p:nvPr>
            <p:ph type="dt" sz="half" idx="10"/>
          </p:nvPr>
        </p:nvSpPr>
        <p:spPr/>
        <p:txBody>
          <a:bodyPr/>
          <a:lstStyle/>
          <a:p>
            <a:fld id="{66CE6613-F0FF-4C36-8CF5-538286339DA0}" type="datetimeFigureOut">
              <a:rPr lang="en-US" smtClean="0"/>
              <a:t>1/22/2022</a:t>
            </a:fld>
            <a:endParaRPr lang="en-US"/>
          </a:p>
        </p:txBody>
      </p:sp>
      <p:sp>
        <p:nvSpPr>
          <p:cNvPr id="5" name="Footer Placeholder 4">
            <a:extLst>
              <a:ext uri="{FF2B5EF4-FFF2-40B4-BE49-F238E27FC236}">
                <a16:creationId xmlns:a16="http://schemas.microsoft.com/office/drawing/2014/main" xmlns="" id="{09E6DDE6-4654-4CA9-88C2-FD03435116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995B0D5A-A86F-4508-A928-BD31595F4014}"/>
              </a:ext>
            </a:extLst>
          </p:cNvPr>
          <p:cNvSpPr>
            <a:spLocks noGrp="1"/>
          </p:cNvSpPr>
          <p:nvPr>
            <p:ph type="sldNum" sz="quarter" idx="12"/>
          </p:nvPr>
        </p:nvSpPr>
        <p:spPr/>
        <p:txBody>
          <a:bodyPr/>
          <a:lstStyle/>
          <a:p>
            <a:fld id="{3E66DED7-7253-4849-B255-1CB1405DB11A}" type="slidenum">
              <a:rPr lang="en-US" smtClean="0"/>
              <a:t>‹#›</a:t>
            </a:fld>
            <a:endParaRPr lang="en-US"/>
          </a:p>
        </p:txBody>
      </p:sp>
    </p:spTree>
    <p:extLst>
      <p:ext uri="{BB962C8B-B14F-4D97-AF65-F5344CB8AC3E}">
        <p14:creationId xmlns:p14="http://schemas.microsoft.com/office/powerpoint/2010/main" val="4220458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1F63EA95-C100-4DE9-BE13-F35E4B5C60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5DBEF48C-2029-4BB5-A6CC-F362C7266B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2D65DBD2-ACD9-4B1C-9EF1-C0EBA128C0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CE6613-F0FF-4C36-8CF5-538286339DA0}" type="datetimeFigureOut">
              <a:rPr lang="en-US" smtClean="0"/>
              <a:t>1/22/2022</a:t>
            </a:fld>
            <a:endParaRPr lang="en-US"/>
          </a:p>
        </p:txBody>
      </p:sp>
      <p:sp>
        <p:nvSpPr>
          <p:cNvPr id="5" name="Footer Placeholder 4">
            <a:extLst>
              <a:ext uri="{FF2B5EF4-FFF2-40B4-BE49-F238E27FC236}">
                <a16:creationId xmlns:a16="http://schemas.microsoft.com/office/drawing/2014/main" xmlns="" id="{6BCEF4FE-F3C2-48D6-8B52-5798DA261D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049BF78D-817D-46DD-BCB0-B8F549233D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66DED7-7253-4849-B255-1CB1405DB11A}" type="slidenum">
              <a:rPr lang="en-US" smtClean="0"/>
              <a:t>‹#›</a:t>
            </a:fld>
            <a:endParaRPr lang="en-US"/>
          </a:p>
        </p:txBody>
      </p:sp>
    </p:spTree>
    <p:extLst>
      <p:ext uri="{BB962C8B-B14F-4D97-AF65-F5344CB8AC3E}">
        <p14:creationId xmlns:p14="http://schemas.microsoft.com/office/powerpoint/2010/main" val="14776263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E2D91783-3C73-4250-8124-C17F913A1D00}"/>
              </a:ext>
            </a:extLst>
          </p:cNvPr>
          <p:cNvSpPr>
            <a:spLocks noGrp="1"/>
          </p:cNvSpPr>
          <p:nvPr>
            <p:ph type="ctrTitle"/>
          </p:nvPr>
        </p:nvSpPr>
        <p:spPr/>
        <p:txBody>
          <a:bodyPr/>
          <a:lstStyle/>
          <a:p>
            <a:r>
              <a:rPr lang="en-US" dirty="0"/>
              <a:t>UNIT-7</a:t>
            </a:r>
          </a:p>
        </p:txBody>
      </p:sp>
      <p:sp>
        <p:nvSpPr>
          <p:cNvPr id="7" name="Subtitle 6">
            <a:extLst>
              <a:ext uri="{FF2B5EF4-FFF2-40B4-BE49-F238E27FC236}">
                <a16:creationId xmlns:a16="http://schemas.microsoft.com/office/drawing/2014/main" xmlns="" id="{BB32ABED-65BF-46EF-85F6-761166C89940}"/>
              </a:ext>
            </a:extLst>
          </p:cNvPr>
          <p:cNvSpPr>
            <a:spLocks noGrp="1"/>
          </p:cNvSpPr>
          <p:nvPr>
            <p:ph type="subTitle" idx="1"/>
          </p:nvPr>
        </p:nvSpPr>
        <p:spPr/>
        <p:txBody>
          <a:bodyPr>
            <a:normAutofit/>
          </a:bodyPr>
          <a:lstStyle/>
          <a:p>
            <a:r>
              <a:rPr lang="en-US" sz="6000" dirty="0"/>
              <a:t>Recent, Trends in Technology</a:t>
            </a:r>
          </a:p>
        </p:txBody>
      </p:sp>
    </p:spTree>
    <p:extLst>
      <p:ext uri="{BB962C8B-B14F-4D97-AF65-F5344CB8AC3E}">
        <p14:creationId xmlns:p14="http://schemas.microsoft.com/office/powerpoint/2010/main" val="33619538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39D25CB-06E2-48CB-ABF0-1218C812C74B}"/>
              </a:ext>
            </a:extLst>
          </p:cNvPr>
          <p:cNvSpPr>
            <a:spLocks noGrp="1"/>
          </p:cNvSpPr>
          <p:nvPr>
            <p:ph idx="1"/>
          </p:nvPr>
        </p:nvSpPr>
        <p:spPr>
          <a:xfrm>
            <a:off x="838200" y="390525"/>
            <a:ext cx="10515600" cy="5786438"/>
          </a:xfrm>
        </p:spPr>
        <p:txBody>
          <a:bodyPr>
            <a:normAutofit/>
          </a:bodyPr>
          <a:lstStyle/>
          <a:p>
            <a:pPr algn="just"/>
            <a:r>
              <a:rPr lang="en-US" i="1" dirty="0"/>
              <a:t>The ICT (Information and Communication Technology) is changing rapidly day by day. The tools, technologies, software and other digital resources are become more and more advanced. The things developed today become outdated with in few days. The faster and rapid change in the technological aspect has made the human difficult to adjust with the new and new tools. A person needs to be updated and habitual to the newly innovated tools. </a:t>
            </a:r>
          </a:p>
          <a:p>
            <a:pPr marL="0" indent="0" algn="just">
              <a:buNone/>
            </a:pPr>
            <a:endParaRPr lang="en-US" i="1" dirty="0"/>
          </a:p>
          <a:p>
            <a:pPr algn="just"/>
            <a:r>
              <a:rPr lang="en-US" i="1" dirty="0"/>
              <a:t>Developments of recent and new technological tools have changed the lifestyle. Most of the, works that were done manually were replaced by digital technological tools. </a:t>
            </a:r>
          </a:p>
        </p:txBody>
      </p:sp>
    </p:spTree>
    <p:extLst>
      <p:ext uri="{BB962C8B-B14F-4D97-AF65-F5344CB8AC3E}">
        <p14:creationId xmlns:p14="http://schemas.microsoft.com/office/powerpoint/2010/main" val="2075559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385978-DED4-4B3B-B1F2-2FE42CC33593}"/>
              </a:ext>
            </a:extLst>
          </p:cNvPr>
          <p:cNvSpPr>
            <a:spLocks noGrp="1"/>
          </p:cNvSpPr>
          <p:nvPr>
            <p:ph type="title"/>
          </p:nvPr>
        </p:nvSpPr>
        <p:spPr>
          <a:xfrm>
            <a:off x="838200" y="365125"/>
            <a:ext cx="10515600" cy="930275"/>
          </a:xfrm>
        </p:spPr>
        <p:txBody>
          <a:bodyPr>
            <a:normAutofit fontScale="90000"/>
          </a:bodyPr>
          <a:lstStyle/>
          <a:p>
            <a:r>
              <a:rPr lang="en-US" b="1" dirty="0"/>
              <a:t>Concept of Artificial Intelligence (AI) and Robotics</a:t>
            </a:r>
          </a:p>
        </p:txBody>
      </p:sp>
      <p:sp>
        <p:nvSpPr>
          <p:cNvPr id="3" name="Content Placeholder 2">
            <a:extLst>
              <a:ext uri="{FF2B5EF4-FFF2-40B4-BE49-F238E27FC236}">
                <a16:creationId xmlns:a16="http://schemas.microsoft.com/office/drawing/2014/main" xmlns="" id="{77FA1CED-FC54-4116-B8AE-07E8A20F4000}"/>
              </a:ext>
            </a:extLst>
          </p:cNvPr>
          <p:cNvSpPr>
            <a:spLocks noGrp="1"/>
          </p:cNvSpPr>
          <p:nvPr>
            <p:ph idx="1"/>
          </p:nvPr>
        </p:nvSpPr>
        <p:spPr>
          <a:xfrm>
            <a:off x="838200" y="1400175"/>
            <a:ext cx="10515600" cy="4776788"/>
          </a:xfrm>
        </p:spPr>
        <p:txBody>
          <a:bodyPr>
            <a:normAutofit fontScale="85000" lnSpcReduction="10000"/>
          </a:bodyPr>
          <a:lstStyle/>
          <a:p>
            <a:pPr algn="just"/>
            <a:r>
              <a:rPr lang="en-US" i="1" dirty="0"/>
              <a:t>Artificial intelligence (AI) refers to a branch of computer science concentrating a such machines that are programmed to the simulation of human intelligence to think like humans and mimic their actions. </a:t>
            </a:r>
          </a:p>
          <a:p>
            <a:pPr algn="just"/>
            <a:r>
              <a:rPr lang="en-US" i="1" dirty="0"/>
              <a:t>AI systems will typically exhibits at least one or some of the behaviors associated with human intelligence such as thinking, learning, reasoning, problem solving, planning, natural language processing, motion, and manipulation.</a:t>
            </a:r>
          </a:p>
          <a:p>
            <a:pPr algn="just"/>
            <a:r>
              <a:rPr lang="en-US" i="1" dirty="0"/>
              <a:t>Some common example of AI are chess-playing, self-driving cars, natural language translation, face detection, searching and answering asked questions etc. </a:t>
            </a:r>
          </a:p>
          <a:p>
            <a:pPr algn="just"/>
            <a:r>
              <a:rPr lang="en-US" i="1" dirty="0"/>
              <a:t>Computers can be programmed to accomplish specific tasks by processing large amounts of data and recognizing patterns in the data using this technology.</a:t>
            </a:r>
          </a:p>
          <a:p>
            <a:pPr algn="just"/>
            <a:r>
              <a:rPr lang="en-US" i="1" dirty="0"/>
              <a:t> Application of AI may cover large area so almost every sector are keen interesting and appreciating it to apply enormous technique and technology developed with them.</a:t>
            </a:r>
          </a:p>
        </p:txBody>
      </p:sp>
    </p:spTree>
    <p:extLst>
      <p:ext uri="{BB962C8B-B14F-4D97-AF65-F5344CB8AC3E}">
        <p14:creationId xmlns:p14="http://schemas.microsoft.com/office/powerpoint/2010/main" val="3288787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D47823F-41DB-4BB5-9C71-37D2D6EFF394}"/>
              </a:ext>
            </a:extLst>
          </p:cNvPr>
          <p:cNvSpPr>
            <a:spLocks noGrp="1"/>
          </p:cNvSpPr>
          <p:nvPr>
            <p:ph type="title"/>
          </p:nvPr>
        </p:nvSpPr>
        <p:spPr>
          <a:xfrm>
            <a:off x="838200" y="365125"/>
            <a:ext cx="10515600" cy="1235075"/>
          </a:xfrm>
        </p:spPr>
        <p:txBody>
          <a:bodyPr>
            <a:normAutofit fontScale="90000"/>
          </a:bodyPr>
          <a:lstStyle/>
          <a:p>
            <a:r>
              <a:rPr lang="en-US" sz="4000" b="1" dirty="0"/>
              <a:t>Applications of AI: </a:t>
            </a:r>
            <a:br>
              <a:rPr lang="en-US" sz="4000" b="1" dirty="0"/>
            </a:br>
            <a:r>
              <a:rPr lang="en-US" sz="4000" b="1" dirty="0"/>
              <a:t>AI has been dominant in various fields such as: </a:t>
            </a:r>
            <a:r>
              <a:rPr lang="en-US" dirty="0"/>
              <a:t/>
            </a:r>
            <a:br>
              <a:rPr lang="en-US" dirty="0"/>
            </a:br>
            <a:endParaRPr lang="en-US" dirty="0"/>
          </a:p>
        </p:txBody>
      </p:sp>
      <p:sp>
        <p:nvSpPr>
          <p:cNvPr id="3" name="Content Placeholder 2">
            <a:extLst>
              <a:ext uri="{FF2B5EF4-FFF2-40B4-BE49-F238E27FC236}">
                <a16:creationId xmlns:a16="http://schemas.microsoft.com/office/drawing/2014/main" xmlns="" id="{A9BB1A54-5174-49A6-9E86-C10B36A73067}"/>
              </a:ext>
            </a:extLst>
          </p:cNvPr>
          <p:cNvSpPr>
            <a:spLocks noGrp="1"/>
          </p:cNvSpPr>
          <p:nvPr>
            <p:ph idx="1"/>
          </p:nvPr>
        </p:nvSpPr>
        <p:spPr/>
        <p:txBody>
          <a:bodyPr>
            <a:normAutofit fontScale="92500" lnSpcReduction="20000"/>
          </a:bodyPr>
          <a:lstStyle/>
          <a:p>
            <a:pPr marL="0" indent="0">
              <a:buNone/>
            </a:pPr>
            <a:r>
              <a:rPr lang="en-US" b="1" i="1" dirty="0"/>
              <a:t>a. Gaming: </a:t>
            </a:r>
          </a:p>
          <a:p>
            <a:r>
              <a:rPr lang="en-US" i="1" dirty="0"/>
              <a:t>AI plays crucial role in strategic games such as chess, poker, tic-tac-toe, etc., </a:t>
            </a:r>
          </a:p>
          <a:p>
            <a:r>
              <a:rPr lang="en-US" i="1" dirty="0"/>
              <a:t>where machine can think of large number of possible positions based on heuristic knowledge. </a:t>
            </a:r>
          </a:p>
          <a:p>
            <a:pPr marL="0" indent="0">
              <a:buNone/>
            </a:pPr>
            <a:r>
              <a:rPr lang="en-US" b="1" i="1" dirty="0"/>
              <a:t>b. Natural Language Processing: </a:t>
            </a:r>
          </a:p>
          <a:p>
            <a:r>
              <a:rPr lang="en-US" i="1" dirty="0"/>
              <a:t>It is possible to interact with the computer that understands natural language spoken by humans. </a:t>
            </a:r>
          </a:p>
          <a:p>
            <a:pPr marL="0" indent="0">
              <a:buNone/>
            </a:pPr>
            <a:r>
              <a:rPr lang="en-US" b="1" i="1" dirty="0"/>
              <a:t>c. Expert Systems: </a:t>
            </a:r>
          </a:p>
          <a:p>
            <a:r>
              <a:rPr lang="en-US" i="1" dirty="0"/>
              <a:t>There are some applications which integrate machine, software, and special information to impart reasoning and advising. They provide explanation and advice to the users. </a:t>
            </a:r>
          </a:p>
          <a:p>
            <a:endParaRPr lang="en-US" dirty="0"/>
          </a:p>
        </p:txBody>
      </p:sp>
    </p:spTree>
    <p:extLst>
      <p:ext uri="{BB962C8B-B14F-4D97-AF65-F5344CB8AC3E}">
        <p14:creationId xmlns:p14="http://schemas.microsoft.com/office/powerpoint/2010/main" val="761848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C1A0814-6A63-4258-B5FF-655A774E7B11}"/>
              </a:ext>
            </a:extLst>
          </p:cNvPr>
          <p:cNvSpPr>
            <a:spLocks noGrp="1"/>
          </p:cNvSpPr>
          <p:nvPr>
            <p:ph idx="1"/>
          </p:nvPr>
        </p:nvSpPr>
        <p:spPr>
          <a:xfrm>
            <a:off x="838200" y="190500"/>
            <a:ext cx="10515600" cy="5986463"/>
          </a:xfrm>
        </p:spPr>
        <p:txBody>
          <a:bodyPr>
            <a:normAutofit/>
          </a:bodyPr>
          <a:lstStyle/>
          <a:p>
            <a:pPr marL="0" indent="0" algn="just">
              <a:buNone/>
            </a:pPr>
            <a:r>
              <a:rPr lang="en-US" b="1" i="1" dirty="0"/>
              <a:t>d. Vision Systems: </a:t>
            </a:r>
          </a:p>
          <a:p>
            <a:pPr marL="0" indent="0" algn="just">
              <a:buNone/>
            </a:pPr>
            <a:r>
              <a:rPr lang="en-US" i="1" dirty="0"/>
              <a:t>These systems understand, interpret, and comprehend visual input on the computer. For example, A spying </a:t>
            </a:r>
            <a:r>
              <a:rPr lang="en-US" i="1" dirty="0" err="1"/>
              <a:t>aeroplane</a:t>
            </a:r>
            <a:r>
              <a:rPr lang="en-US" i="1" dirty="0"/>
              <a:t> takes photographs, which are used to figure out spatial information or map of the areas. Doctors use clinical expert system to diagnose the patient. Police use computer software that can recognize the face of criminal with the stored portrait made by forensic artist. </a:t>
            </a:r>
          </a:p>
          <a:p>
            <a:pPr marL="0" indent="0" algn="just">
              <a:buNone/>
            </a:pPr>
            <a:r>
              <a:rPr lang="en-US" b="1" i="1" dirty="0"/>
              <a:t>e. Speech Recognition: </a:t>
            </a:r>
          </a:p>
          <a:p>
            <a:pPr marL="0" indent="0" algn="just">
              <a:buNone/>
            </a:pPr>
            <a:r>
              <a:rPr lang="en-US" i="1" dirty="0"/>
              <a:t>Some intelligent systems are capable of hearing and comprehending the language in terms of sentences and their meanings while a human talks to it. It can handle different accents, slang words, noise in the background, change in human’s noise due to cold, etc. </a:t>
            </a:r>
          </a:p>
        </p:txBody>
      </p:sp>
    </p:spTree>
    <p:extLst>
      <p:ext uri="{BB962C8B-B14F-4D97-AF65-F5344CB8AC3E}">
        <p14:creationId xmlns:p14="http://schemas.microsoft.com/office/powerpoint/2010/main" val="365003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9F55817-B12A-4175-B5B7-B443C6781F41}"/>
              </a:ext>
            </a:extLst>
          </p:cNvPr>
          <p:cNvSpPr>
            <a:spLocks noGrp="1"/>
          </p:cNvSpPr>
          <p:nvPr>
            <p:ph idx="1"/>
          </p:nvPr>
        </p:nvSpPr>
        <p:spPr>
          <a:xfrm>
            <a:off x="838200" y="523875"/>
            <a:ext cx="10515600" cy="5653088"/>
          </a:xfrm>
        </p:spPr>
        <p:txBody>
          <a:bodyPr/>
          <a:lstStyle/>
          <a:p>
            <a:pPr marL="0" indent="0" algn="just">
              <a:buNone/>
            </a:pPr>
            <a:r>
              <a:rPr lang="en-US" b="1" i="1" dirty="0"/>
              <a:t>f. Handwriting Recognition: </a:t>
            </a:r>
          </a:p>
          <a:p>
            <a:pPr marL="0" indent="0" algn="just">
              <a:buNone/>
            </a:pPr>
            <a:r>
              <a:rPr lang="en-US" i="1" dirty="0"/>
              <a:t>The handwriting recognition software reads the text written on paper by a pen or on screen by a stylus. It can recognize the shapes of the letters and convert it into editable text. </a:t>
            </a:r>
          </a:p>
          <a:p>
            <a:pPr marL="0" indent="0" algn="just">
              <a:buNone/>
            </a:pPr>
            <a:r>
              <a:rPr lang="en-US" b="1" i="1" dirty="0"/>
              <a:t>g. Intelligent Robots: </a:t>
            </a:r>
          </a:p>
          <a:p>
            <a:pPr marL="0" indent="0" algn="just">
              <a:buNone/>
            </a:pPr>
            <a:r>
              <a:rPr lang="en-US" i="1" dirty="0"/>
              <a:t>Robots are able to perform the tasks given by a human. They have sensors to detect physical data from the real world such as light, heat, temperature, movement, sound, bump, and pressure. They have efficient processors, multiple sensors and huge memory, to exhibit intelligence. In addition, they are capable of learning from their mistakes and they can adapt to the new environment. </a:t>
            </a:r>
          </a:p>
          <a:p>
            <a:pPr marL="0" indent="0">
              <a:buNone/>
            </a:pPr>
            <a:endParaRPr lang="en-US" i="1" dirty="0"/>
          </a:p>
        </p:txBody>
      </p:sp>
    </p:spTree>
    <p:extLst>
      <p:ext uri="{BB962C8B-B14F-4D97-AF65-F5344CB8AC3E}">
        <p14:creationId xmlns:p14="http://schemas.microsoft.com/office/powerpoint/2010/main" val="453391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99176"/>
            <a:ext cx="10515600" cy="5977787"/>
          </a:xfrm>
        </p:spPr>
        <p:txBody>
          <a:bodyPr/>
          <a:lstStyle/>
          <a:p>
            <a:pPr marL="0" indent="0">
              <a:buNone/>
            </a:pPr>
            <a:r>
              <a:rPr lang="en-US" dirty="0" smtClean="0">
                <a:solidFill>
                  <a:srgbClr val="FF0000"/>
                </a:solidFill>
              </a:rPr>
              <a:t>Concept </a:t>
            </a:r>
            <a:r>
              <a:rPr lang="en-US" dirty="0">
                <a:solidFill>
                  <a:srgbClr val="FF0000"/>
                </a:solidFill>
              </a:rPr>
              <a:t>of Cloud Computing </a:t>
            </a:r>
            <a:endParaRPr lang="en-US" dirty="0" smtClean="0">
              <a:solidFill>
                <a:srgbClr val="FF0000"/>
              </a:solidFill>
            </a:endParaRPr>
          </a:p>
          <a:p>
            <a:pPr algn="just"/>
            <a:r>
              <a:rPr lang="en-US" sz="2400" i="1" dirty="0" smtClean="0"/>
              <a:t>Cloud </a:t>
            </a:r>
            <a:r>
              <a:rPr lang="en-US" sz="2400" i="1" dirty="0"/>
              <a:t>computing is widely distributed technology which involves delivering different types of services over the Internet. It may include tools and applications like data storage, servers, databases, networking, and software. Amazon Web Service (AWS), Microsoft Azure, Google Cloud Platform, IBM Cloud Services, Adobe Creative Cloud, </a:t>
            </a:r>
            <a:r>
              <a:rPr lang="en-US" sz="2400" i="1" dirty="0" err="1"/>
              <a:t>Kamatera</a:t>
            </a:r>
            <a:r>
              <a:rPr lang="en-US" sz="2400" i="1" dirty="0"/>
              <a:t>, VMware, Oracle Cloud, Rack spaces are some companies which provides such type of services. </a:t>
            </a:r>
          </a:p>
        </p:txBody>
      </p:sp>
      <p:pic>
        <p:nvPicPr>
          <p:cNvPr id="4" name="Picture 3"/>
          <p:cNvPicPr>
            <a:picLocks noChangeAspect="1"/>
          </p:cNvPicPr>
          <p:nvPr/>
        </p:nvPicPr>
        <p:blipFill>
          <a:blip r:embed="rId2"/>
          <a:stretch>
            <a:fillRect/>
          </a:stretch>
        </p:blipFill>
        <p:spPr>
          <a:xfrm>
            <a:off x="2861271" y="2825246"/>
            <a:ext cx="5857215" cy="3765353"/>
          </a:xfrm>
          <a:prstGeom prst="rect">
            <a:avLst/>
          </a:prstGeom>
        </p:spPr>
      </p:pic>
    </p:spTree>
    <p:extLst>
      <p:ext uri="{BB962C8B-B14F-4D97-AF65-F5344CB8AC3E}">
        <p14:creationId xmlns:p14="http://schemas.microsoft.com/office/powerpoint/2010/main" val="3463749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26337"/>
            <a:ext cx="10515600" cy="5950626"/>
          </a:xfrm>
        </p:spPr>
        <p:txBody>
          <a:bodyPr/>
          <a:lstStyle/>
          <a:p>
            <a:pPr algn="just"/>
            <a:r>
              <a:rPr lang="en-US" i="1" dirty="0"/>
              <a:t>Nowadays, different cloud-based applications are available and online users are involving to get services such as sending and receiving message, mobile app and online game. Google drive, one drive , drop box, </a:t>
            </a:r>
            <a:r>
              <a:rPr lang="en-US" i="1" dirty="0" err="1"/>
              <a:t>i</a:t>
            </a:r>
            <a:r>
              <a:rPr lang="en-US" i="1" dirty="0"/>
              <a:t> cloud, </a:t>
            </a:r>
            <a:r>
              <a:rPr lang="en-US" i="1" dirty="0" err="1"/>
              <a:t>i</a:t>
            </a:r>
            <a:r>
              <a:rPr lang="en-US" i="1" dirty="0"/>
              <a:t> drive are cloud based storage where one can store their file, documents, photos, videos or many more and access it from anywhere and anytime they prefer. </a:t>
            </a:r>
            <a:endParaRPr lang="en-US" i="1" dirty="0" smtClean="0"/>
          </a:p>
          <a:p>
            <a:pPr algn="just"/>
            <a:r>
              <a:rPr lang="en-US" i="1" dirty="0" smtClean="0"/>
              <a:t>It </a:t>
            </a:r>
            <a:r>
              <a:rPr lang="en-US" i="1" dirty="0"/>
              <a:t>becomes as a best option of carrying pen drive, optical disk, hard drive. Cloud computing means improved collaboration and productivity, as well as significant cost reductions. It means better data protection, improved availability, and expanded access to cutting-edge technologies. </a:t>
            </a:r>
          </a:p>
        </p:txBody>
      </p:sp>
    </p:spTree>
    <p:extLst>
      <p:ext uri="{BB962C8B-B14F-4D97-AF65-F5344CB8AC3E}">
        <p14:creationId xmlns:p14="http://schemas.microsoft.com/office/powerpoint/2010/main" val="2877580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0"/>
            <a:ext cx="10515600" cy="6176963"/>
          </a:xfrm>
        </p:spPr>
        <p:txBody>
          <a:bodyPr/>
          <a:lstStyle/>
          <a:p>
            <a:pPr marL="0" indent="0">
              <a:buNone/>
            </a:pPr>
            <a:r>
              <a:rPr lang="en-US" dirty="0">
                <a:solidFill>
                  <a:srgbClr val="FF0000"/>
                </a:solidFill>
              </a:rPr>
              <a:t>Some of characteristics of Cloud Computing are: </a:t>
            </a:r>
            <a:endParaRPr lang="en-US" dirty="0" smtClean="0">
              <a:solidFill>
                <a:srgbClr val="FF0000"/>
              </a:solidFill>
            </a:endParaRPr>
          </a:p>
          <a:p>
            <a:pPr marL="571500" indent="-571500" algn="just">
              <a:buAutoNum type="romanLcPeriod"/>
            </a:pPr>
            <a:r>
              <a:rPr lang="en-US" i="1" dirty="0" smtClean="0">
                <a:solidFill>
                  <a:srgbClr val="FF0000"/>
                </a:solidFill>
              </a:rPr>
              <a:t>On-demand </a:t>
            </a:r>
            <a:r>
              <a:rPr lang="en-US" i="1" dirty="0">
                <a:solidFill>
                  <a:srgbClr val="FF0000"/>
                </a:solidFill>
              </a:rPr>
              <a:t>self-service</a:t>
            </a:r>
            <a:r>
              <a:rPr lang="en-US" i="1" dirty="0"/>
              <a:t>: Storing and accessing data in cloud storage, all controls are provided to users</a:t>
            </a:r>
            <a:r>
              <a:rPr lang="en-US" i="1" dirty="0" smtClean="0"/>
              <a:t>. User </a:t>
            </a:r>
            <a:r>
              <a:rPr lang="en-US" i="1" dirty="0"/>
              <a:t>can use it whenever and wherever they </a:t>
            </a:r>
            <a:r>
              <a:rPr lang="en-US" i="1" dirty="0" smtClean="0"/>
              <a:t>need.</a:t>
            </a:r>
          </a:p>
          <a:p>
            <a:pPr marL="571500" indent="-571500" algn="just">
              <a:buAutoNum type="romanLcPeriod"/>
            </a:pPr>
            <a:r>
              <a:rPr lang="en-US" i="1" dirty="0" smtClean="0">
                <a:solidFill>
                  <a:srgbClr val="FF0000"/>
                </a:solidFill>
              </a:rPr>
              <a:t>Broad </a:t>
            </a:r>
            <a:r>
              <a:rPr lang="en-US" i="1" dirty="0">
                <a:solidFill>
                  <a:srgbClr val="FF0000"/>
                </a:solidFill>
              </a:rPr>
              <a:t>network access: </a:t>
            </a:r>
            <a:r>
              <a:rPr lang="en-US" i="1" dirty="0"/>
              <a:t>The services are able to access through web browsers using any device with internet connectivity. No need any infrastructure to access service. </a:t>
            </a:r>
          </a:p>
          <a:p>
            <a:pPr marL="571500" indent="-571500" algn="just">
              <a:buAutoNum type="romanLcPeriod"/>
            </a:pPr>
            <a:r>
              <a:rPr lang="en-US" i="1" dirty="0" smtClean="0">
                <a:solidFill>
                  <a:srgbClr val="FF0000"/>
                </a:solidFill>
              </a:rPr>
              <a:t>Resource </a:t>
            </a:r>
            <a:r>
              <a:rPr lang="en-US" i="1" dirty="0">
                <a:solidFill>
                  <a:srgbClr val="FF0000"/>
                </a:solidFill>
              </a:rPr>
              <a:t>pooling: </a:t>
            </a:r>
            <a:r>
              <a:rPr lang="en-US" i="1" dirty="0"/>
              <a:t>Multiple users can share the same space and resources. They can assign, edit or distribute as needed. </a:t>
            </a:r>
          </a:p>
          <a:p>
            <a:pPr marL="571500" indent="-571500" algn="just">
              <a:buAutoNum type="romanLcPeriod"/>
            </a:pPr>
            <a:r>
              <a:rPr lang="en-US" i="1" dirty="0" smtClean="0">
                <a:solidFill>
                  <a:srgbClr val="FF0000"/>
                </a:solidFill>
              </a:rPr>
              <a:t>Rapid </a:t>
            </a:r>
            <a:r>
              <a:rPr lang="en-US" i="1" dirty="0">
                <a:solidFill>
                  <a:srgbClr val="FF0000"/>
                </a:solidFill>
              </a:rPr>
              <a:t>elasticity: </a:t>
            </a:r>
            <a:r>
              <a:rPr lang="en-US" i="1" dirty="0"/>
              <a:t>Cloud can grow and shrink as much as possible without affecting any of its users or their information. </a:t>
            </a:r>
          </a:p>
          <a:p>
            <a:pPr marL="571500" indent="-571500" algn="just">
              <a:buAutoNum type="romanLcPeriod"/>
            </a:pPr>
            <a:r>
              <a:rPr lang="en-US" i="1" dirty="0" smtClean="0">
                <a:solidFill>
                  <a:srgbClr val="FF0000"/>
                </a:solidFill>
              </a:rPr>
              <a:t> </a:t>
            </a:r>
            <a:r>
              <a:rPr lang="en-US" i="1" dirty="0">
                <a:solidFill>
                  <a:srgbClr val="FF0000"/>
                </a:solidFill>
              </a:rPr>
              <a:t>Security: </a:t>
            </a:r>
            <a:r>
              <a:rPr lang="en-US" i="1" dirty="0"/>
              <a:t>Security mechanism is better than other traditional systems. Data are secured in cloud storage because of an improved centralization of data and increased security-focused resources. </a:t>
            </a:r>
          </a:p>
        </p:txBody>
      </p:sp>
    </p:spTree>
    <p:extLst>
      <p:ext uri="{BB962C8B-B14F-4D97-AF65-F5344CB8AC3E}">
        <p14:creationId xmlns:p14="http://schemas.microsoft.com/office/powerpoint/2010/main" val="1951873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3374"/>
            <a:ext cx="10515600" cy="6113589"/>
          </a:xfrm>
        </p:spPr>
        <p:txBody>
          <a:bodyPr>
            <a:normAutofit lnSpcReduction="10000"/>
          </a:bodyPr>
          <a:lstStyle/>
          <a:p>
            <a:pPr marL="0" indent="0">
              <a:buNone/>
            </a:pPr>
            <a:r>
              <a:rPr lang="en-US" dirty="0">
                <a:solidFill>
                  <a:srgbClr val="FF0000"/>
                </a:solidFill>
              </a:rPr>
              <a:t>There are three main service models of cloud computing: </a:t>
            </a:r>
            <a:endParaRPr lang="en-US" dirty="0" smtClean="0">
              <a:solidFill>
                <a:srgbClr val="FF0000"/>
              </a:solidFill>
            </a:endParaRPr>
          </a:p>
          <a:p>
            <a:pPr marL="571500" indent="-571500" algn="just">
              <a:buAutoNum type="romanLcPeriod"/>
            </a:pPr>
            <a:r>
              <a:rPr lang="en-US" i="1" dirty="0" smtClean="0">
                <a:solidFill>
                  <a:srgbClr val="FF0000"/>
                </a:solidFill>
              </a:rPr>
              <a:t>Infrastructure </a:t>
            </a:r>
            <a:r>
              <a:rPr lang="en-US" i="1" dirty="0">
                <a:solidFill>
                  <a:srgbClr val="FF0000"/>
                </a:solidFill>
              </a:rPr>
              <a:t>as a Service (</a:t>
            </a:r>
            <a:r>
              <a:rPr lang="en-US" i="1" dirty="0" err="1">
                <a:solidFill>
                  <a:srgbClr val="FF0000"/>
                </a:solidFill>
              </a:rPr>
              <a:t>IaaS</a:t>
            </a:r>
            <a:r>
              <a:rPr lang="en-US" i="1" dirty="0">
                <a:solidFill>
                  <a:srgbClr val="FF0000"/>
                </a:solidFill>
              </a:rPr>
              <a:t>): </a:t>
            </a:r>
            <a:r>
              <a:rPr lang="en-US" i="1" dirty="0"/>
              <a:t>In an Infrastructure-as-a-Service (</a:t>
            </a:r>
            <a:r>
              <a:rPr lang="en-US" i="1" dirty="0" err="1"/>
              <a:t>IaaS</a:t>
            </a:r>
            <a:r>
              <a:rPr lang="en-US" i="1" dirty="0"/>
              <a:t>), service provider provides users access to computing resources such as servers, storage and networking. Users use their own platforms and applications within a service provider’s infrastructure. </a:t>
            </a:r>
            <a:endParaRPr lang="en-US" i="1" dirty="0" smtClean="0"/>
          </a:p>
          <a:p>
            <a:pPr marL="571500" indent="-571500" algn="just">
              <a:buAutoNum type="romanLcPeriod"/>
            </a:pPr>
            <a:r>
              <a:rPr lang="en-US" i="1" dirty="0" smtClean="0">
                <a:solidFill>
                  <a:srgbClr val="FF0000"/>
                </a:solidFill>
              </a:rPr>
              <a:t>Platform </a:t>
            </a:r>
            <a:r>
              <a:rPr lang="en-US" i="1" dirty="0">
                <a:solidFill>
                  <a:srgbClr val="FF0000"/>
                </a:solidFill>
              </a:rPr>
              <a:t>as a Service (</a:t>
            </a:r>
            <a:r>
              <a:rPr lang="en-US" i="1" dirty="0" err="1">
                <a:solidFill>
                  <a:srgbClr val="FF0000"/>
                </a:solidFill>
              </a:rPr>
              <a:t>PaaS</a:t>
            </a:r>
            <a:r>
              <a:rPr lang="en-US" i="1" dirty="0">
                <a:solidFill>
                  <a:srgbClr val="FF0000"/>
                </a:solidFill>
              </a:rPr>
              <a:t>): </a:t>
            </a:r>
            <a:r>
              <a:rPr lang="en-US" i="1" dirty="0"/>
              <a:t>In a Platform as a service (</a:t>
            </a:r>
            <a:r>
              <a:rPr lang="en-US" i="1" dirty="0" err="1"/>
              <a:t>PaaS</a:t>
            </a:r>
            <a:r>
              <a:rPr lang="en-US" i="1" dirty="0"/>
              <a:t>), service provider provides users with a cloud environment in which they can develop, manage and deliver applications. In addition to storage and other computing resources, users are able to use a suite of prebuilt tools to develop, customize and test their own applications. </a:t>
            </a:r>
            <a:endParaRPr lang="en-US" i="1" dirty="0" smtClean="0"/>
          </a:p>
          <a:p>
            <a:pPr marL="571500" indent="-571500" algn="just">
              <a:buAutoNum type="romanLcPeriod"/>
            </a:pPr>
            <a:r>
              <a:rPr lang="en-US" i="1" dirty="0" smtClean="0">
                <a:solidFill>
                  <a:srgbClr val="FF0000"/>
                </a:solidFill>
              </a:rPr>
              <a:t>Software </a:t>
            </a:r>
            <a:r>
              <a:rPr lang="en-US" i="1" dirty="0">
                <a:solidFill>
                  <a:srgbClr val="FF0000"/>
                </a:solidFill>
              </a:rPr>
              <a:t>as a Service (</a:t>
            </a:r>
            <a:r>
              <a:rPr lang="en-US" i="1" dirty="0" err="1">
                <a:solidFill>
                  <a:srgbClr val="FF0000"/>
                </a:solidFill>
              </a:rPr>
              <a:t>SaaS</a:t>
            </a:r>
            <a:r>
              <a:rPr lang="en-US" i="1" dirty="0">
                <a:solidFill>
                  <a:srgbClr val="FF0000"/>
                </a:solidFill>
              </a:rPr>
              <a:t>): </a:t>
            </a:r>
            <a:r>
              <a:rPr lang="en-US" i="1" dirty="0"/>
              <a:t>In Software as a service (</a:t>
            </a:r>
            <a:r>
              <a:rPr lang="en-US" i="1" dirty="0" err="1"/>
              <a:t>SaaS</a:t>
            </a:r>
            <a:r>
              <a:rPr lang="en-US" i="1" dirty="0"/>
              <a:t>), service provider provides users to access cloud-based software. Users can store and analyze data and collaborate on projects through the application. Users do not install applications on their local devices.</a:t>
            </a:r>
          </a:p>
        </p:txBody>
      </p:sp>
    </p:spTree>
    <p:extLst>
      <p:ext uri="{BB962C8B-B14F-4D97-AF65-F5344CB8AC3E}">
        <p14:creationId xmlns:p14="http://schemas.microsoft.com/office/powerpoint/2010/main" val="599717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1069"/>
            <a:ext cx="10515600" cy="5995894"/>
          </a:xfrm>
        </p:spPr>
        <p:txBody>
          <a:bodyPr/>
          <a:lstStyle/>
          <a:p>
            <a:pPr marL="0" indent="0">
              <a:buNone/>
            </a:pPr>
            <a:r>
              <a:rPr lang="en-US" b="1" dirty="0">
                <a:solidFill>
                  <a:srgbClr val="FF0000"/>
                </a:solidFill>
              </a:rPr>
              <a:t>Concept of Big Data </a:t>
            </a:r>
            <a:endParaRPr lang="en-US" b="1" dirty="0" smtClean="0">
              <a:solidFill>
                <a:srgbClr val="FF0000"/>
              </a:solidFill>
            </a:endParaRPr>
          </a:p>
          <a:p>
            <a:pPr algn="just"/>
            <a:r>
              <a:rPr lang="en-US" i="1" dirty="0" smtClean="0"/>
              <a:t>Big </a:t>
            </a:r>
            <a:r>
              <a:rPr lang="en-US" i="1" dirty="0"/>
              <a:t>Data is a collection of data that is huge in volume, yet growing exponentially with time. </a:t>
            </a:r>
            <a:endParaRPr lang="en-US" i="1" dirty="0" smtClean="0"/>
          </a:p>
          <a:p>
            <a:pPr algn="just"/>
            <a:r>
              <a:rPr lang="en-US" i="1" dirty="0" smtClean="0"/>
              <a:t>Big </a:t>
            </a:r>
            <a:r>
              <a:rPr lang="en-US" i="1" dirty="0"/>
              <a:t>Data refers to complex and large data sets that have to be processed and analyzed to uncover valuable information that can benefit businesses and organizations. </a:t>
            </a:r>
            <a:endParaRPr lang="en-US" i="1" dirty="0" smtClean="0"/>
          </a:p>
          <a:p>
            <a:pPr algn="just"/>
            <a:r>
              <a:rPr lang="en-US" i="1" dirty="0" smtClean="0"/>
              <a:t>It </a:t>
            </a:r>
            <a:r>
              <a:rPr lang="en-US" i="1" dirty="0"/>
              <a:t>is a data with so large size and complexity that none of traditional data management tools can store it or process it efficiently. Big data is also a data but with huge size. </a:t>
            </a:r>
            <a:endParaRPr lang="en-US" i="1" dirty="0" smtClean="0"/>
          </a:p>
          <a:p>
            <a:pPr algn="just"/>
            <a:r>
              <a:rPr lang="en-US" i="1" dirty="0"/>
              <a:t>Big data can be collected from publicly shared comments on social networks and websites, voluntarily gathered from personal electronics and apps, through questionnaires, product purchases, and electronic check-ins.</a:t>
            </a:r>
          </a:p>
        </p:txBody>
      </p:sp>
    </p:spTree>
    <p:extLst>
      <p:ext uri="{BB962C8B-B14F-4D97-AF65-F5344CB8AC3E}">
        <p14:creationId xmlns:p14="http://schemas.microsoft.com/office/powerpoint/2010/main" val="665704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0"/>
            <a:ext cx="10515600" cy="6176963"/>
          </a:xfrm>
        </p:spPr>
        <p:txBody>
          <a:bodyPr>
            <a:normAutofit fontScale="92500" lnSpcReduction="20000"/>
          </a:bodyPr>
          <a:lstStyle/>
          <a:p>
            <a:r>
              <a:rPr lang="en-US" dirty="0">
                <a:solidFill>
                  <a:srgbClr val="FF0000"/>
                </a:solidFill>
              </a:rPr>
              <a:t>For example</a:t>
            </a:r>
            <a:r>
              <a:rPr lang="en-US" dirty="0"/>
              <a:t>: </a:t>
            </a:r>
            <a:endParaRPr lang="en-US" dirty="0" smtClean="0"/>
          </a:p>
          <a:p>
            <a:pPr algn="just"/>
            <a:r>
              <a:rPr lang="en-US" i="1" dirty="0" smtClean="0"/>
              <a:t>The </a:t>
            </a:r>
            <a:r>
              <a:rPr lang="en-US" i="1" dirty="0"/>
              <a:t>statistic shows that 500+terabytes of new data get ingested into the databases of social media site Facebook, every day. This data is mainly generated in terms of photo and video uploads, message exchanges, putting comments etc</a:t>
            </a:r>
            <a:r>
              <a:rPr lang="en-US" i="1" dirty="0" smtClean="0"/>
              <a:t>.</a:t>
            </a:r>
          </a:p>
          <a:p>
            <a:pPr algn="just"/>
            <a:r>
              <a:rPr lang="en-US" i="1" dirty="0" smtClean="0"/>
              <a:t> </a:t>
            </a:r>
            <a:r>
              <a:rPr lang="en-US" i="1" dirty="0"/>
              <a:t>A single Jet engine can generate 10+terabytes of data in 30 minutes of flight time. With many thousand flights per day, generation of data reaches up to many Petabytes. </a:t>
            </a:r>
            <a:endParaRPr lang="en-US" i="1" dirty="0" smtClean="0"/>
          </a:p>
          <a:p>
            <a:pPr marL="0" indent="0" algn="just">
              <a:buNone/>
            </a:pPr>
            <a:r>
              <a:rPr lang="en-US" dirty="0">
                <a:solidFill>
                  <a:srgbClr val="FF0000"/>
                </a:solidFill>
              </a:rPr>
              <a:t>However, there are certain basic tenets of Big Data which are listed as follows: </a:t>
            </a:r>
            <a:endParaRPr lang="en-US" dirty="0" smtClean="0">
              <a:solidFill>
                <a:srgbClr val="FF0000"/>
              </a:solidFill>
            </a:endParaRPr>
          </a:p>
          <a:p>
            <a:pPr marL="0" indent="0" algn="just">
              <a:buNone/>
            </a:pPr>
            <a:r>
              <a:rPr lang="en-US" i="1" dirty="0" smtClean="0"/>
              <a:t>» </a:t>
            </a:r>
            <a:r>
              <a:rPr lang="en-US" i="1" dirty="0"/>
              <a:t>It refers to a massive amount of data that keeps on growing exponentially with time. </a:t>
            </a:r>
            <a:endParaRPr lang="en-US" i="1" dirty="0" smtClean="0"/>
          </a:p>
          <a:p>
            <a:pPr marL="0" indent="0" algn="just">
              <a:buNone/>
            </a:pPr>
            <a:r>
              <a:rPr lang="en-US" i="1" dirty="0" smtClean="0"/>
              <a:t>» </a:t>
            </a:r>
            <a:r>
              <a:rPr lang="en-US" i="1" dirty="0"/>
              <a:t>It is so voluminous that it cannot be processed or analyzed using conventional data processing techniques. </a:t>
            </a:r>
            <a:endParaRPr lang="en-US" i="1" dirty="0" smtClean="0"/>
          </a:p>
          <a:p>
            <a:pPr marL="0" indent="0" algn="just">
              <a:buNone/>
            </a:pPr>
            <a:r>
              <a:rPr lang="en-US" i="1" dirty="0" smtClean="0"/>
              <a:t>» </a:t>
            </a:r>
            <a:r>
              <a:rPr lang="en-US" i="1" dirty="0"/>
              <a:t>It includes data mining, data storage, data analysis, data sharing, and data visualization. </a:t>
            </a:r>
            <a:endParaRPr lang="en-US" i="1" dirty="0" smtClean="0"/>
          </a:p>
          <a:p>
            <a:pPr marL="0" indent="0" algn="just">
              <a:buNone/>
            </a:pPr>
            <a:r>
              <a:rPr lang="en-US" i="1" dirty="0" smtClean="0"/>
              <a:t>» </a:t>
            </a:r>
            <a:r>
              <a:rPr lang="en-US" i="1" dirty="0"/>
              <a:t>The term is an all-comprehensive one including data, data frameworks, along with the tools and techniques used to process and analyze the data.</a:t>
            </a:r>
          </a:p>
        </p:txBody>
      </p:sp>
    </p:spTree>
    <p:extLst>
      <p:ext uri="{BB962C8B-B14F-4D97-AF65-F5344CB8AC3E}">
        <p14:creationId xmlns:p14="http://schemas.microsoft.com/office/powerpoint/2010/main" val="2268167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1069"/>
            <a:ext cx="10515600" cy="5995894"/>
          </a:xfrm>
        </p:spPr>
        <p:txBody>
          <a:bodyPr>
            <a:normAutofit fontScale="92500" lnSpcReduction="10000"/>
          </a:bodyPr>
          <a:lstStyle/>
          <a:p>
            <a:pPr marL="0" indent="0">
              <a:buNone/>
            </a:pPr>
            <a:r>
              <a:rPr lang="en-US" b="1" dirty="0">
                <a:solidFill>
                  <a:srgbClr val="FF0000"/>
                </a:solidFill>
              </a:rPr>
              <a:t>Characteristics of Big Data: </a:t>
            </a:r>
            <a:endParaRPr lang="en-US" b="1" dirty="0" smtClean="0">
              <a:solidFill>
                <a:srgbClr val="FF0000"/>
              </a:solidFill>
            </a:endParaRPr>
          </a:p>
          <a:p>
            <a:pPr marL="0" indent="0">
              <a:buNone/>
            </a:pPr>
            <a:r>
              <a:rPr lang="en-US" dirty="0"/>
              <a:t>	</a:t>
            </a:r>
            <a:r>
              <a:rPr lang="en-US" dirty="0" smtClean="0"/>
              <a:t>The </a:t>
            </a:r>
            <a:r>
              <a:rPr lang="en-US" dirty="0"/>
              <a:t>characteristics of big data can be expressed in 3V's form </a:t>
            </a:r>
            <a:endParaRPr lang="en-US" dirty="0" smtClean="0"/>
          </a:p>
          <a:p>
            <a:pPr marL="514350" indent="-514350" algn="just">
              <a:buAutoNum type="alphaLcPeriod"/>
            </a:pPr>
            <a:r>
              <a:rPr lang="en-US" i="1" dirty="0" smtClean="0">
                <a:solidFill>
                  <a:srgbClr val="FF0000"/>
                </a:solidFill>
              </a:rPr>
              <a:t>Variety</a:t>
            </a:r>
            <a:r>
              <a:rPr lang="en-US" i="1" dirty="0"/>
              <a:t>: Variety of Big Data refers to structured, unstructured, and semi-structured data 8that is gathered from multiple sources. While in the past, data could only be collected from spreadsheets and databases, today data comes in an array of forms such as emails, PDFs, photos, videos, audios, SM posts, and so much more. Variety is one of the important characteristics of big data. </a:t>
            </a:r>
            <a:endParaRPr lang="en-US" i="1" dirty="0" smtClean="0"/>
          </a:p>
          <a:p>
            <a:pPr marL="514350" indent="-514350" algn="just">
              <a:buAutoNum type="alphaLcPeriod"/>
            </a:pPr>
            <a:r>
              <a:rPr lang="en-US" i="1" dirty="0" smtClean="0">
                <a:solidFill>
                  <a:srgbClr val="FF0000"/>
                </a:solidFill>
              </a:rPr>
              <a:t>Velocity</a:t>
            </a:r>
            <a:r>
              <a:rPr lang="en-US" i="1" dirty="0">
                <a:solidFill>
                  <a:srgbClr val="FF0000"/>
                </a:solidFill>
              </a:rPr>
              <a:t>:</a:t>
            </a:r>
            <a:r>
              <a:rPr lang="en-US" i="1" dirty="0"/>
              <a:t> Velocity essentially refers to the speed at which data is being created in </a:t>
            </a:r>
            <a:r>
              <a:rPr lang="en-US" i="1" dirty="0" smtClean="0"/>
              <a:t>real time</a:t>
            </a:r>
            <a:r>
              <a:rPr lang="en-US" i="1" dirty="0"/>
              <a:t>. In a broader prospect, it comprises the rate of change, linking of incoming data sets at varying speeds, and activity bursts. </a:t>
            </a:r>
            <a:r>
              <a:rPr lang="en-US" i="1" dirty="0" smtClean="0"/>
              <a:t> </a:t>
            </a:r>
          </a:p>
          <a:p>
            <a:pPr marL="514350" indent="-514350" algn="just">
              <a:buAutoNum type="alphaLcPeriod"/>
            </a:pPr>
            <a:r>
              <a:rPr lang="en-US" i="1" dirty="0" smtClean="0">
                <a:solidFill>
                  <a:srgbClr val="FF0000"/>
                </a:solidFill>
              </a:rPr>
              <a:t>Volume</a:t>
            </a:r>
            <a:r>
              <a:rPr lang="en-US" i="1" dirty="0">
                <a:solidFill>
                  <a:srgbClr val="FF0000"/>
                </a:solidFill>
              </a:rPr>
              <a:t>:</a:t>
            </a:r>
            <a:r>
              <a:rPr lang="en-US" i="1" dirty="0"/>
              <a:t> Volume is one of the characteristics of big data. We already know that Big Data indicates huge ‘volumes’ of data that is being generated on a daily basis from various sources like social media platforms, business processes, machines, networks, human interactions, etc. Such a large amount of data are stored in data warehouses.</a:t>
            </a:r>
          </a:p>
        </p:txBody>
      </p:sp>
    </p:spTree>
    <p:extLst>
      <p:ext uri="{BB962C8B-B14F-4D97-AF65-F5344CB8AC3E}">
        <p14:creationId xmlns:p14="http://schemas.microsoft.com/office/powerpoint/2010/main" val="32551564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208230"/>
            <a:ext cx="12113537" cy="5968733"/>
          </a:xfrm>
        </p:spPr>
        <p:txBody>
          <a:bodyPr>
            <a:normAutofit lnSpcReduction="10000"/>
          </a:bodyPr>
          <a:lstStyle/>
          <a:p>
            <a:pPr marL="0" indent="0">
              <a:buNone/>
            </a:pPr>
            <a:r>
              <a:rPr lang="en-US" b="1" dirty="0">
                <a:solidFill>
                  <a:srgbClr val="FF0000"/>
                </a:solidFill>
              </a:rPr>
              <a:t>Types of Big Data: </a:t>
            </a:r>
            <a:endParaRPr lang="en-US" b="1" dirty="0" smtClean="0">
              <a:solidFill>
                <a:srgbClr val="FF0000"/>
              </a:solidFill>
            </a:endParaRPr>
          </a:p>
          <a:p>
            <a:pPr marL="0" indent="0">
              <a:buNone/>
            </a:pPr>
            <a:r>
              <a:rPr lang="en-US" dirty="0" smtClean="0"/>
              <a:t>	The </a:t>
            </a:r>
            <a:r>
              <a:rPr lang="en-US" dirty="0"/>
              <a:t>big data can be categorized as follows: </a:t>
            </a:r>
            <a:endParaRPr lang="en-US" dirty="0" smtClean="0"/>
          </a:p>
          <a:p>
            <a:pPr marL="514350" indent="-514350" algn="just">
              <a:buAutoNum type="alphaLcPeriod"/>
            </a:pPr>
            <a:r>
              <a:rPr lang="en-US" i="1" dirty="0" smtClean="0">
                <a:solidFill>
                  <a:srgbClr val="FF0000"/>
                </a:solidFill>
              </a:rPr>
              <a:t>Structured</a:t>
            </a:r>
            <a:r>
              <a:rPr lang="en-US" i="1" dirty="0">
                <a:solidFill>
                  <a:srgbClr val="FF0000"/>
                </a:solidFill>
              </a:rPr>
              <a:t>: </a:t>
            </a:r>
            <a:r>
              <a:rPr lang="en-US" i="1" dirty="0"/>
              <a:t>The structured data refers to data that can be processed, stored, and retrieved in a fixed format. It refers to highly organized information that can be readily and seamlessly stored and accessed from a database by simple search engine algorithms. For instance, the employee table in a company database will be structured as the employee details, their job positions, their salaries, etc., will be present in an organized manner. </a:t>
            </a:r>
            <a:endParaRPr lang="en-US" i="1" dirty="0" smtClean="0"/>
          </a:p>
          <a:p>
            <a:pPr marL="514350" indent="-514350" algn="just">
              <a:buAutoNum type="alphaLcPeriod"/>
            </a:pPr>
            <a:r>
              <a:rPr lang="en-US" i="1" dirty="0" smtClean="0">
                <a:solidFill>
                  <a:srgbClr val="FF0000"/>
                </a:solidFill>
              </a:rPr>
              <a:t>Unstructured</a:t>
            </a:r>
            <a:r>
              <a:rPr lang="en-US" i="1" dirty="0">
                <a:solidFill>
                  <a:srgbClr val="FF0000"/>
                </a:solidFill>
              </a:rPr>
              <a:t>:</a:t>
            </a:r>
            <a:r>
              <a:rPr lang="en-US" i="1" dirty="0"/>
              <a:t> Unstructured data refers to the data that lacks any specific form or structure whatsoever. This makes it very difficult and time-consuming to process and analyze unstructured data. Email is an example of unstructured data. </a:t>
            </a:r>
            <a:r>
              <a:rPr lang="en-US" i="1" dirty="0" smtClean="0"/>
              <a:t> </a:t>
            </a:r>
          </a:p>
          <a:p>
            <a:pPr marL="514350" indent="-514350" algn="just">
              <a:buAutoNum type="alphaLcPeriod"/>
            </a:pPr>
            <a:r>
              <a:rPr lang="en-US" i="1" dirty="0" smtClean="0">
                <a:solidFill>
                  <a:srgbClr val="FF0000"/>
                </a:solidFill>
              </a:rPr>
              <a:t>Semi-structured</a:t>
            </a:r>
            <a:r>
              <a:rPr lang="en-US" i="1" dirty="0">
                <a:solidFill>
                  <a:srgbClr val="FF0000"/>
                </a:solidFill>
              </a:rPr>
              <a:t>:</a:t>
            </a:r>
            <a:r>
              <a:rPr lang="en-US" i="1" dirty="0"/>
              <a:t> Semi structured is the third type of big data. Semi-structured data pertains to the data containing both the formats mentioned above, that is, structured and unstructured data. </a:t>
            </a:r>
          </a:p>
        </p:txBody>
      </p:sp>
    </p:spTree>
    <p:extLst>
      <p:ext uri="{BB962C8B-B14F-4D97-AF65-F5344CB8AC3E}">
        <p14:creationId xmlns:p14="http://schemas.microsoft.com/office/powerpoint/2010/main" val="12885582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6749"/>
            <a:ext cx="10515600" cy="6050214"/>
          </a:xfrm>
        </p:spPr>
        <p:txBody>
          <a:bodyPr/>
          <a:lstStyle/>
          <a:p>
            <a:pPr marL="0" indent="0" algn="just">
              <a:buNone/>
            </a:pPr>
            <a:r>
              <a:rPr lang="en-US" b="1" dirty="0">
                <a:solidFill>
                  <a:srgbClr val="FF0000"/>
                </a:solidFill>
              </a:rPr>
              <a:t>Concept of Mobile </a:t>
            </a:r>
            <a:r>
              <a:rPr lang="en-US" b="1" dirty="0" smtClean="0">
                <a:solidFill>
                  <a:srgbClr val="FF0000"/>
                </a:solidFill>
              </a:rPr>
              <a:t>Computing</a:t>
            </a:r>
          </a:p>
          <a:p>
            <a:pPr algn="just"/>
            <a:r>
              <a:rPr lang="en-US" dirty="0" smtClean="0"/>
              <a:t> </a:t>
            </a:r>
            <a:r>
              <a:rPr lang="en-US" i="1" dirty="0"/>
              <a:t>Mobile Computing is a technology that allows transmission of data, voice and video via a computer or any other wireless enabled device without having to be connected to a fixed physical link. The main concept involves: </a:t>
            </a:r>
            <a:endParaRPr lang="en-US" i="1" dirty="0" smtClean="0"/>
          </a:p>
          <a:p>
            <a:pPr marL="514350" indent="-514350" algn="just">
              <a:buAutoNum type="alphaLcPeriod"/>
            </a:pPr>
            <a:r>
              <a:rPr lang="en-US" i="1" dirty="0" smtClean="0"/>
              <a:t>Mobile </a:t>
            </a:r>
            <a:r>
              <a:rPr lang="en-US" i="1" dirty="0"/>
              <a:t>communication </a:t>
            </a:r>
            <a:r>
              <a:rPr lang="en-US" i="1" dirty="0" smtClean="0"/>
              <a:t> </a:t>
            </a:r>
          </a:p>
          <a:p>
            <a:pPr marL="514350" indent="-514350" algn="just">
              <a:buAutoNum type="alphaLcPeriod"/>
            </a:pPr>
            <a:r>
              <a:rPr lang="en-US" i="1" dirty="0" smtClean="0"/>
              <a:t>Mobile </a:t>
            </a:r>
            <a:r>
              <a:rPr lang="en-US" i="1" dirty="0"/>
              <a:t>hardware </a:t>
            </a:r>
            <a:endParaRPr lang="en-US" i="1" dirty="0" smtClean="0"/>
          </a:p>
          <a:p>
            <a:pPr marL="514350" indent="-514350" algn="just">
              <a:buAutoNum type="alphaLcPeriod"/>
            </a:pPr>
            <a:r>
              <a:rPr lang="en-US" i="1" dirty="0" smtClean="0"/>
              <a:t> </a:t>
            </a:r>
            <a:r>
              <a:rPr lang="en-US" i="1" dirty="0"/>
              <a:t>Mobile software</a:t>
            </a:r>
          </a:p>
        </p:txBody>
      </p:sp>
    </p:spTree>
    <p:extLst>
      <p:ext uri="{BB962C8B-B14F-4D97-AF65-F5344CB8AC3E}">
        <p14:creationId xmlns:p14="http://schemas.microsoft.com/office/powerpoint/2010/main" val="4075338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4855"/>
            <a:ext cx="10515600" cy="6032108"/>
          </a:xfrm>
        </p:spPr>
        <p:txBody>
          <a:bodyPr/>
          <a:lstStyle/>
          <a:p>
            <a:pPr marL="514350" indent="-514350">
              <a:buAutoNum type="alphaLcPeriod"/>
            </a:pPr>
            <a:r>
              <a:rPr lang="en-US" b="1" dirty="0" smtClean="0">
                <a:solidFill>
                  <a:srgbClr val="FF0000"/>
                </a:solidFill>
              </a:rPr>
              <a:t>Mobile </a:t>
            </a:r>
            <a:r>
              <a:rPr lang="en-US" b="1" dirty="0">
                <a:solidFill>
                  <a:srgbClr val="FF0000"/>
                </a:solidFill>
              </a:rPr>
              <a:t>communication:: </a:t>
            </a:r>
            <a:endParaRPr lang="en-US" b="1" dirty="0" smtClean="0">
              <a:solidFill>
                <a:srgbClr val="FF0000"/>
              </a:solidFill>
            </a:endParaRPr>
          </a:p>
          <a:p>
            <a:pPr algn="just"/>
            <a:r>
              <a:rPr lang="en-US" i="1" dirty="0" smtClean="0"/>
              <a:t>Mobile </a:t>
            </a:r>
            <a:r>
              <a:rPr lang="en-US" i="1" dirty="0"/>
              <a:t>Communication refers for exchange of data and information without physical connection. </a:t>
            </a:r>
            <a:endParaRPr lang="en-US" i="1" dirty="0" smtClean="0"/>
          </a:p>
          <a:p>
            <a:pPr algn="just"/>
            <a:r>
              <a:rPr lang="en-US" i="1" dirty="0" smtClean="0"/>
              <a:t>Mobile </a:t>
            </a:r>
            <a:r>
              <a:rPr lang="en-US" i="1" dirty="0"/>
              <a:t>communication are basically radio </a:t>
            </a:r>
            <a:r>
              <a:rPr lang="en-US" i="1" dirty="0" smtClean="0"/>
              <a:t>wave oriented </a:t>
            </a:r>
            <a:r>
              <a:rPr lang="en-US" i="1" dirty="0"/>
              <a:t>technology those are capable of receiving and sending similar kinds of signals</a:t>
            </a:r>
            <a:r>
              <a:rPr lang="en-US" i="1" dirty="0" smtClean="0"/>
              <a:t>.</a:t>
            </a:r>
          </a:p>
          <a:p>
            <a:pPr algn="just"/>
            <a:r>
              <a:rPr lang="en-US" i="1" dirty="0" smtClean="0"/>
              <a:t> </a:t>
            </a:r>
            <a:r>
              <a:rPr lang="en-US" i="1" dirty="0"/>
              <a:t>The mobile communication in this case, refers to the infrastructure put in place to ensure that seamless and reliable communication goes on. </a:t>
            </a:r>
            <a:endParaRPr lang="en-US" i="1" dirty="0" smtClean="0"/>
          </a:p>
          <a:p>
            <a:pPr algn="just"/>
            <a:r>
              <a:rPr lang="en-US" i="1" dirty="0" smtClean="0"/>
              <a:t>These </a:t>
            </a:r>
            <a:r>
              <a:rPr lang="en-US" i="1" dirty="0"/>
              <a:t>would include devices such as protocols, services, bandwidth, and portals necessary to facilitate and support the stated services. The data format is also defined at this stage. </a:t>
            </a:r>
            <a:endParaRPr lang="en-US" i="1" dirty="0" smtClean="0"/>
          </a:p>
          <a:p>
            <a:pPr algn="just"/>
            <a:r>
              <a:rPr lang="en-US" i="1" dirty="0" smtClean="0"/>
              <a:t>This </a:t>
            </a:r>
            <a:r>
              <a:rPr lang="en-US" i="1" dirty="0"/>
              <a:t>ensures that there is no collision with other existing systems which offer the same service. </a:t>
            </a:r>
          </a:p>
        </p:txBody>
      </p:sp>
    </p:spTree>
    <p:extLst>
      <p:ext uri="{BB962C8B-B14F-4D97-AF65-F5344CB8AC3E}">
        <p14:creationId xmlns:p14="http://schemas.microsoft.com/office/powerpoint/2010/main" val="21628246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3909"/>
            <a:ext cx="10515600" cy="6023054"/>
          </a:xfrm>
        </p:spPr>
        <p:txBody>
          <a:bodyPr/>
          <a:lstStyle/>
          <a:p>
            <a:pPr marL="0" indent="0">
              <a:buNone/>
            </a:pPr>
            <a:r>
              <a:rPr lang="en-US" b="1" dirty="0">
                <a:solidFill>
                  <a:srgbClr val="FF0000"/>
                </a:solidFill>
              </a:rPr>
              <a:t>b. Mobile hardware: </a:t>
            </a:r>
            <a:endParaRPr lang="en-US" b="1" dirty="0" smtClean="0">
              <a:solidFill>
                <a:srgbClr val="FF0000"/>
              </a:solidFill>
            </a:endParaRPr>
          </a:p>
          <a:p>
            <a:pPr algn="just"/>
            <a:r>
              <a:rPr lang="en-US" i="1" dirty="0" smtClean="0"/>
              <a:t>Mobile </a:t>
            </a:r>
            <a:r>
              <a:rPr lang="en-US" i="1" dirty="0"/>
              <a:t>hardware includes mobile devices or device components that receive or access the service of mobility. </a:t>
            </a:r>
            <a:endParaRPr lang="en-US" i="1" dirty="0" smtClean="0"/>
          </a:p>
          <a:p>
            <a:pPr algn="just"/>
            <a:r>
              <a:rPr lang="en-US" i="1" dirty="0" smtClean="0"/>
              <a:t>They </a:t>
            </a:r>
            <a:r>
              <a:rPr lang="en-US" i="1" dirty="0"/>
              <a:t>would range from portable laptops, smartphones, tablet Pc's, Personal Digital Assistants. </a:t>
            </a:r>
            <a:endParaRPr lang="en-US" i="1" dirty="0" smtClean="0"/>
          </a:p>
          <a:p>
            <a:pPr algn="just"/>
            <a:r>
              <a:rPr lang="en-US" i="1" dirty="0" smtClean="0"/>
              <a:t>These </a:t>
            </a:r>
            <a:r>
              <a:rPr lang="en-US" i="1" dirty="0"/>
              <a:t>devices will have a receptor medium that is capable of sensing and receiving signals. </a:t>
            </a:r>
            <a:endParaRPr lang="en-US" i="1" dirty="0" smtClean="0"/>
          </a:p>
          <a:p>
            <a:pPr algn="just"/>
            <a:r>
              <a:rPr lang="en-US" i="1" dirty="0" smtClean="0"/>
              <a:t>These </a:t>
            </a:r>
            <a:r>
              <a:rPr lang="en-US" i="1" dirty="0"/>
              <a:t>devices are configured to operate in full- duplex, whereby they are capable of sending and receiving signals at the same time. </a:t>
            </a:r>
            <a:endParaRPr lang="en-US" i="1" dirty="0" smtClean="0"/>
          </a:p>
          <a:p>
            <a:pPr algn="just"/>
            <a:r>
              <a:rPr lang="en-US" i="1" dirty="0" smtClean="0"/>
              <a:t>They </a:t>
            </a:r>
            <a:r>
              <a:rPr lang="en-US" i="1" dirty="0"/>
              <a:t>don't have to wait until one device has finished communicating for the other device to initiate communications.</a:t>
            </a:r>
          </a:p>
        </p:txBody>
      </p:sp>
    </p:spTree>
    <p:extLst>
      <p:ext uri="{BB962C8B-B14F-4D97-AF65-F5344CB8AC3E}">
        <p14:creationId xmlns:p14="http://schemas.microsoft.com/office/powerpoint/2010/main" val="19998595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3374"/>
            <a:ext cx="10515600" cy="6113589"/>
          </a:xfrm>
        </p:spPr>
        <p:txBody>
          <a:bodyPr/>
          <a:lstStyle/>
          <a:p>
            <a:pPr marL="0" indent="0">
              <a:buNone/>
            </a:pPr>
            <a:r>
              <a:rPr lang="en-US" b="1" dirty="0">
                <a:solidFill>
                  <a:srgbClr val="FF0000"/>
                </a:solidFill>
              </a:rPr>
              <a:t>c. Mobile Software: </a:t>
            </a:r>
            <a:endParaRPr lang="en-US" b="1" dirty="0" smtClean="0">
              <a:solidFill>
                <a:srgbClr val="FF0000"/>
              </a:solidFill>
            </a:endParaRPr>
          </a:p>
          <a:p>
            <a:pPr algn="just"/>
            <a:r>
              <a:rPr lang="en-US" i="1" dirty="0" smtClean="0"/>
              <a:t>Mobile </a:t>
            </a:r>
            <a:r>
              <a:rPr lang="en-US" i="1" dirty="0"/>
              <a:t>software is the actual program that runs on the mobile hardware. It deals with the characteristics and requirements of mobile applications. </a:t>
            </a:r>
            <a:endParaRPr lang="en-US" i="1" dirty="0" smtClean="0"/>
          </a:p>
          <a:p>
            <a:pPr algn="just"/>
            <a:r>
              <a:rPr lang="en-US" i="1" dirty="0" smtClean="0"/>
              <a:t>This </a:t>
            </a:r>
            <a:r>
              <a:rPr lang="en-US" i="1" dirty="0"/>
              <a:t>is the engine of the mobile device. In other terms, it is the operating system of the appliance. It's the essential component that operates the mobile device. </a:t>
            </a:r>
            <a:endParaRPr lang="en-US" i="1" dirty="0" smtClean="0"/>
          </a:p>
          <a:p>
            <a:pPr algn="just"/>
            <a:r>
              <a:rPr lang="en-US" i="1" dirty="0" smtClean="0"/>
              <a:t>It </a:t>
            </a:r>
            <a:r>
              <a:rPr lang="en-US" i="1" dirty="0"/>
              <a:t>may be operating system, apps or game designed form mobile computing. </a:t>
            </a:r>
            <a:endParaRPr lang="en-US" i="1" dirty="0" smtClean="0"/>
          </a:p>
          <a:p>
            <a:pPr algn="just"/>
            <a:r>
              <a:rPr lang="en-US" i="1" dirty="0" smtClean="0"/>
              <a:t>The </a:t>
            </a:r>
            <a:r>
              <a:rPr lang="en-US" i="1" dirty="0"/>
              <a:t>software supports Wi-Fi, Bluetooth, GPS, camera, touch screen, speech recognition etc. Android, </a:t>
            </a:r>
            <a:r>
              <a:rPr lang="en-US" i="1" dirty="0" err="1"/>
              <a:t>iOS</a:t>
            </a:r>
            <a:r>
              <a:rPr lang="en-US" i="1" dirty="0"/>
              <a:t>, BlackBerry OS, </a:t>
            </a:r>
            <a:r>
              <a:rPr lang="en-US" i="1" dirty="0" err="1"/>
              <a:t>Bada</a:t>
            </a:r>
            <a:r>
              <a:rPr lang="en-US" i="1" dirty="0"/>
              <a:t> are some popular operating system.</a:t>
            </a:r>
          </a:p>
        </p:txBody>
      </p:sp>
    </p:spTree>
    <p:extLst>
      <p:ext uri="{BB962C8B-B14F-4D97-AF65-F5344CB8AC3E}">
        <p14:creationId xmlns:p14="http://schemas.microsoft.com/office/powerpoint/2010/main" val="10590170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72016"/>
            <a:ext cx="10515600" cy="6004947"/>
          </a:xfrm>
        </p:spPr>
        <p:txBody>
          <a:bodyPr/>
          <a:lstStyle/>
          <a:p>
            <a:pPr marL="0" indent="0">
              <a:buNone/>
            </a:pPr>
            <a:r>
              <a:rPr lang="en-US" b="1" dirty="0">
                <a:solidFill>
                  <a:srgbClr val="FF0000"/>
                </a:solidFill>
              </a:rPr>
              <a:t>Advantages of Mobile Computing: </a:t>
            </a:r>
            <a:endParaRPr lang="en-US" b="1" dirty="0" smtClean="0">
              <a:solidFill>
                <a:srgbClr val="FF0000"/>
              </a:solidFill>
            </a:endParaRPr>
          </a:p>
          <a:p>
            <a:pPr marL="514350" indent="-514350">
              <a:buAutoNum type="alphaLcPeriod"/>
            </a:pPr>
            <a:r>
              <a:rPr lang="en-US" i="1" dirty="0" smtClean="0">
                <a:solidFill>
                  <a:srgbClr val="FF0000"/>
                </a:solidFill>
              </a:rPr>
              <a:t>Portability</a:t>
            </a:r>
            <a:r>
              <a:rPr lang="en-US" i="1" dirty="0">
                <a:solidFill>
                  <a:srgbClr val="FF0000"/>
                </a:solidFill>
              </a:rPr>
              <a:t>:</a:t>
            </a:r>
            <a:r>
              <a:rPr lang="en-US" i="1" dirty="0"/>
              <a:t> It can be taken and used anywhere and anytime without any restriction of location. </a:t>
            </a:r>
            <a:endParaRPr lang="en-US" i="1" dirty="0" smtClean="0"/>
          </a:p>
          <a:p>
            <a:pPr marL="514350" indent="-514350">
              <a:buAutoNum type="alphaLcPeriod"/>
            </a:pPr>
            <a:r>
              <a:rPr lang="en-US" i="1" dirty="0" smtClean="0">
                <a:solidFill>
                  <a:srgbClr val="FF0000"/>
                </a:solidFill>
              </a:rPr>
              <a:t> </a:t>
            </a:r>
            <a:r>
              <a:rPr lang="en-US" i="1" dirty="0">
                <a:solidFill>
                  <a:srgbClr val="FF0000"/>
                </a:solidFill>
              </a:rPr>
              <a:t>Productivity:</a:t>
            </a:r>
            <a:r>
              <a:rPr lang="en-US" i="1" dirty="0"/>
              <a:t> It can be used for various purposes and various fields by reducing cost and time of individuals. </a:t>
            </a:r>
            <a:endParaRPr lang="en-US" i="1" dirty="0" smtClean="0"/>
          </a:p>
          <a:p>
            <a:pPr marL="514350" indent="-514350">
              <a:buAutoNum type="alphaLcPeriod"/>
            </a:pPr>
            <a:r>
              <a:rPr lang="en-US" i="1" dirty="0" smtClean="0">
                <a:solidFill>
                  <a:srgbClr val="FF0000"/>
                </a:solidFill>
              </a:rPr>
              <a:t>Entertainment</a:t>
            </a:r>
            <a:r>
              <a:rPr lang="en-US" i="1" dirty="0">
                <a:solidFill>
                  <a:srgbClr val="FF0000"/>
                </a:solidFill>
              </a:rPr>
              <a:t>:</a:t>
            </a:r>
            <a:r>
              <a:rPr lang="en-US" i="1" dirty="0"/>
              <a:t> It can be used for browsing social media and websites. Entertaining game, apps, songs and videos are played in such devices. </a:t>
            </a:r>
          </a:p>
          <a:p>
            <a:pPr marL="514350" indent="-514350" algn="just">
              <a:buAutoNum type="alphaLcPeriod"/>
            </a:pPr>
            <a:r>
              <a:rPr lang="en-US" i="1" dirty="0" smtClean="0">
                <a:solidFill>
                  <a:srgbClr val="FF0000"/>
                </a:solidFill>
              </a:rPr>
              <a:t>Communicating </a:t>
            </a:r>
            <a:r>
              <a:rPr lang="en-US" i="1" dirty="0">
                <a:solidFill>
                  <a:srgbClr val="FF0000"/>
                </a:solidFill>
              </a:rPr>
              <a:t>and interacting</a:t>
            </a:r>
            <a:r>
              <a:rPr lang="en-US" i="1" dirty="0"/>
              <a:t>: Due to the embedded system, it is very easy to connect and interact with people by messaging, calling, chatting, and video calling in all over the world. </a:t>
            </a:r>
          </a:p>
        </p:txBody>
      </p:sp>
    </p:spTree>
    <p:extLst>
      <p:ext uri="{BB962C8B-B14F-4D97-AF65-F5344CB8AC3E}">
        <p14:creationId xmlns:p14="http://schemas.microsoft.com/office/powerpoint/2010/main" val="31603375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b="1" dirty="0">
                <a:solidFill>
                  <a:srgbClr val="FF0000"/>
                </a:solidFill>
              </a:rPr>
              <a:t>Concept of e-commerce, e-medicine, </a:t>
            </a:r>
            <a:br>
              <a:rPr lang="it-IT" b="1" dirty="0">
                <a:solidFill>
                  <a:srgbClr val="FF0000"/>
                </a:solidFill>
              </a:rPr>
            </a:br>
            <a:r>
              <a:rPr lang="it-IT" b="1" dirty="0">
                <a:solidFill>
                  <a:srgbClr val="FF0000"/>
                </a:solidFill>
              </a:rPr>
              <a:t> e-governance </a:t>
            </a:r>
            <a:endParaRPr lang="en-US" b="1" dirty="0">
              <a:solidFill>
                <a:srgbClr val="FF0000"/>
              </a:solidFill>
            </a:endParaRPr>
          </a:p>
        </p:txBody>
      </p:sp>
      <p:sp>
        <p:nvSpPr>
          <p:cNvPr id="3" name="Content Placeholder 2"/>
          <p:cNvSpPr>
            <a:spLocks noGrp="1"/>
          </p:cNvSpPr>
          <p:nvPr>
            <p:ph idx="1"/>
          </p:nvPr>
        </p:nvSpPr>
        <p:spPr>
          <a:xfrm>
            <a:off x="838200" y="1690688"/>
            <a:ext cx="10515600" cy="4351338"/>
          </a:xfrm>
        </p:spPr>
        <p:txBody>
          <a:bodyPr>
            <a:normAutofit lnSpcReduction="10000"/>
          </a:bodyPr>
          <a:lstStyle/>
          <a:p>
            <a:pPr marL="0" indent="0" algn="just">
              <a:buNone/>
            </a:pPr>
            <a:r>
              <a:rPr lang="en-US" dirty="0"/>
              <a:t>a</a:t>
            </a:r>
            <a:r>
              <a:rPr lang="en-US" dirty="0">
                <a:solidFill>
                  <a:srgbClr val="FF0000"/>
                </a:solidFill>
              </a:rPr>
              <a:t>. E-commerce: </a:t>
            </a:r>
          </a:p>
          <a:p>
            <a:pPr algn="just"/>
            <a:r>
              <a:rPr lang="en-US" dirty="0"/>
              <a:t>E-commerce or e-business are commonly used words in today’s world. It </a:t>
            </a:r>
            <a:r>
              <a:rPr lang="en-US" dirty="0" smtClean="0"/>
              <a:t>refers </a:t>
            </a:r>
            <a:r>
              <a:rPr lang="en-US" dirty="0"/>
              <a:t>a business activity such as selling or buying goods, exchanges </a:t>
            </a:r>
            <a:r>
              <a:rPr lang="en-US" dirty="0" smtClean="0"/>
              <a:t>products</a:t>
            </a:r>
            <a:r>
              <a:rPr lang="en-US" dirty="0"/>
              <a:t>, providing services and information through Internet. </a:t>
            </a:r>
          </a:p>
          <a:p>
            <a:pPr algn="just"/>
            <a:r>
              <a:rPr lang="en-US" dirty="0" smtClean="0"/>
              <a:t>It </a:t>
            </a:r>
            <a:r>
              <a:rPr lang="en-US" dirty="0"/>
              <a:t>is a kind </a:t>
            </a:r>
            <a:r>
              <a:rPr lang="en-US" dirty="0" smtClean="0"/>
              <a:t>commercial </a:t>
            </a:r>
            <a:r>
              <a:rPr lang="en-US" dirty="0"/>
              <a:t>transaction that includes sharing information across the internet. </a:t>
            </a:r>
            <a:endParaRPr lang="en-US" dirty="0" smtClean="0"/>
          </a:p>
          <a:p>
            <a:pPr algn="just"/>
            <a:r>
              <a:rPr lang="en-US" dirty="0" smtClean="0"/>
              <a:t>It </a:t>
            </a:r>
            <a:r>
              <a:rPr lang="en-US" dirty="0"/>
              <a:t>exchange of products and services between businesses, groups and </a:t>
            </a:r>
          </a:p>
          <a:p>
            <a:pPr marL="0" indent="0" algn="just">
              <a:buNone/>
            </a:pPr>
            <a:r>
              <a:rPr lang="en-US" dirty="0"/>
              <a:t>individuals. It covers a large area involving consumers, service providers </a:t>
            </a:r>
          </a:p>
          <a:p>
            <a:pPr marL="0" indent="0" algn="just">
              <a:buNone/>
            </a:pPr>
            <a:r>
              <a:rPr lang="en-US" dirty="0"/>
              <a:t>and manufacturers. </a:t>
            </a:r>
          </a:p>
        </p:txBody>
      </p:sp>
    </p:spTree>
    <p:extLst>
      <p:ext uri="{BB962C8B-B14F-4D97-AF65-F5344CB8AC3E}">
        <p14:creationId xmlns:p14="http://schemas.microsoft.com/office/powerpoint/2010/main" val="42448471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0"/>
            <a:ext cx="10515600" cy="6176963"/>
          </a:xfrm>
        </p:spPr>
        <p:txBody>
          <a:bodyPr/>
          <a:lstStyle/>
          <a:p>
            <a:pPr algn="just"/>
            <a:r>
              <a:rPr lang="en-US" dirty="0"/>
              <a:t>now a day, each and every sectors are involving in ecommerce such as banking, sales, ticketing, education, reserving etc. Smart phone, wireless technology and easy apps makes the ecommerce more accessible and reachable to each customers. </a:t>
            </a:r>
            <a:endParaRPr lang="en-US" dirty="0" smtClean="0"/>
          </a:p>
          <a:p>
            <a:pPr algn="just"/>
            <a:r>
              <a:rPr lang="en-US" dirty="0" smtClean="0"/>
              <a:t>Customer </a:t>
            </a:r>
            <a:r>
              <a:rPr lang="en-US" dirty="0"/>
              <a:t>satisfaction is a primary goal of each business. It is going substitute traditional trade because of quick response, quality services, time saving, low cost and online payment</a:t>
            </a:r>
            <a:r>
              <a:rPr lang="en-US" dirty="0" smtClean="0"/>
              <a:t>.</a:t>
            </a:r>
          </a:p>
          <a:p>
            <a:pPr algn="just"/>
            <a:endParaRPr lang="en-US" dirty="0"/>
          </a:p>
        </p:txBody>
      </p:sp>
    </p:spTree>
    <p:extLst>
      <p:ext uri="{BB962C8B-B14F-4D97-AF65-F5344CB8AC3E}">
        <p14:creationId xmlns:p14="http://schemas.microsoft.com/office/powerpoint/2010/main" val="32918468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00416"/>
            <a:ext cx="10515600" cy="5976547"/>
          </a:xfrm>
        </p:spPr>
        <p:txBody>
          <a:bodyPr>
            <a:normAutofit lnSpcReduction="10000"/>
          </a:bodyPr>
          <a:lstStyle/>
          <a:p>
            <a:r>
              <a:rPr lang="en-US" dirty="0">
                <a:solidFill>
                  <a:srgbClr val="FF0000"/>
                </a:solidFill>
              </a:rPr>
              <a:t>Advantages of ecommerce: </a:t>
            </a:r>
            <a:endParaRPr lang="en-US" dirty="0" smtClean="0">
              <a:solidFill>
                <a:srgbClr val="FF0000"/>
              </a:solidFill>
            </a:endParaRPr>
          </a:p>
          <a:p>
            <a:r>
              <a:rPr lang="en-US" dirty="0" err="1" smtClean="0"/>
              <a:t>i</a:t>
            </a:r>
            <a:r>
              <a:rPr lang="en-US" dirty="0"/>
              <a:t>. Easy to reach on the global market </a:t>
            </a:r>
            <a:endParaRPr lang="en-US" dirty="0" smtClean="0"/>
          </a:p>
          <a:p>
            <a:r>
              <a:rPr lang="en-US" dirty="0" smtClean="0"/>
              <a:t>ii</a:t>
            </a:r>
            <a:r>
              <a:rPr lang="en-US" dirty="0"/>
              <a:t>. Customers can easily search, select same products from different service providers. </a:t>
            </a:r>
            <a:endParaRPr lang="en-US" dirty="0" smtClean="0"/>
          </a:p>
          <a:p>
            <a:r>
              <a:rPr lang="en-US" dirty="0" smtClean="0"/>
              <a:t>iii</a:t>
            </a:r>
            <a:r>
              <a:rPr lang="en-US" dirty="0"/>
              <a:t>. Buying or selling products and services anytime and anywhere </a:t>
            </a:r>
            <a:endParaRPr lang="en-US" dirty="0" smtClean="0"/>
          </a:p>
          <a:p>
            <a:r>
              <a:rPr lang="en-US" dirty="0" smtClean="0"/>
              <a:t>iv</a:t>
            </a:r>
            <a:r>
              <a:rPr lang="en-US" dirty="0"/>
              <a:t>. No need to establish physical stores. </a:t>
            </a:r>
            <a:endParaRPr lang="en-US" dirty="0" smtClean="0"/>
          </a:p>
          <a:p>
            <a:r>
              <a:rPr lang="en-US" dirty="0" smtClean="0"/>
              <a:t>v</a:t>
            </a:r>
            <a:r>
              <a:rPr lang="en-US" dirty="0"/>
              <a:t>. Low operational costs but better quality of services. </a:t>
            </a:r>
            <a:endParaRPr lang="en-US" dirty="0" smtClean="0"/>
          </a:p>
          <a:p>
            <a:r>
              <a:rPr lang="en-US" dirty="0" smtClean="0"/>
              <a:t>vi</a:t>
            </a:r>
            <a:r>
              <a:rPr lang="en-US" dirty="0"/>
              <a:t>. Easy to start, organize and manage a business. </a:t>
            </a:r>
            <a:endParaRPr lang="en-US" dirty="0" smtClean="0"/>
          </a:p>
          <a:p>
            <a:r>
              <a:rPr lang="en-US" dirty="0" smtClean="0"/>
              <a:t>vii</a:t>
            </a:r>
            <a:r>
              <a:rPr lang="en-US" dirty="0"/>
              <a:t>. Easily accessible and reliable business </a:t>
            </a:r>
            <a:endParaRPr lang="en-US" dirty="0" smtClean="0"/>
          </a:p>
          <a:p>
            <a:r>
              <a:rPr lang="en-US" dirty="0" smtClean="0"/>
              <a:t>viii</a:t>
            </a:r>
            <a:r>
              <a:rPr lang="en-US" dirty="0"/>
              <a:t>. Saving time and money. </a:t>
            </a:r>
            <a:endParaRPr lang="en-US" dirty="0" smtClean="0"/>
          </a:p>
          <a:p>
            <a:r>
              <a:rPr lang="en-US" dirty="0" smtClean="0"/>
              <a:t>ix</a:t>
            </a:r>
            <a:r>
              <a:rPr lang="en-US" dirty="0"/>
              <a:t>. No geographical limitations. </a:t>
            </a:r>
            <a:endParaRPr lang="en-US" dirty="0" smtClean="0"/>
          </a:p>
          <a:p>
            <a:r>
              <a:rPr lang="en-US" dirty="0" smtClean="0"/>
              <a:t>x</a:t>
            </a:r>
            <a:r>
              <a:rPr lang="en-US" dirty="0"/>
              <a:t>. No need physical presence </a:t>
            </a:r>
            <a:endParaRPr lang="en-US" dirty="0" smtClean="0"/>
          </a:p>
          <a:p>
            <a:r>
              <a:rPr lang="en-US" dirty="0" smtClean="0"/>
              <a:t>xi</a:t>
            </a:r>
            <a:r>
              <a:rPr lang="en-US" dirty="0"/>
              <a:t>. Instant customer’s reaction comments and review. </a:t>
            </a:r>
          </a:p>
        </p:txBody>
      </p:sp>
    </p:spTree>
    <p:extLst>
      <p:ext uri="{BB962C8B-B14F-4D97-AF65-F5344CB8AC3E}">
        <p14:creationId xmlns:p14="http://schemas.microsoft.com/office/powerpoint/2010/main" val="40270248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0625"/>
            <a:ext cx="10515600" cy="5876338"/>
          </a:xfrm>
        </p:spPr>
        <p:txBody>
          <a:bodyPr>
            <a:normAutofit fontScale="85000" lnSpcReduction="20000"/>
          </a:bodyPr>
          <a:lstStyle/>
          <a:p>
            <a:pPr marL="0" indent="0">
              <a:buNone/>
            </a:pPr>
            <a:r>
              <a:rPr lang="en-US" dirty="0">
                <a:solidFill>
                  <a:srgbClr val="FF0000"/>
                </a:solidFill>
              </a:rPr>
              <a:t>b. E-medicine: </a:t>
            </a:r>
          </a:p>
          <a:p>
            <a:pPr algn="just"/>
            <a:r>
              <a:rPr lang="en-US" dirty="0"/>
              <a:t>Health is the sensitive issues and matter all over the world. </a:t>
            </a:r>
            <a:r>
              <a:rPr lang="en-US" dirty="0" smtClean="0"/>
              <a:t>The service related </a:t>
            </a:r>
            <a:r>
              <a:rPr lang="en-US" dirty="0"/>
              <a:t>with health directly concerns with person. The services as well as </a:t>
            </a:r>
            <a:r>
              <a:rPr lang="en-US" dirty="0" smtClean="0"/>
              <a:t>expenditure </a:t>
            </a:r>
            <a:r>
              <a:rPr lang="en-US" dirty="0"/>
              <a:t>on health continues to grow. </a:t>
            </a:r>
            <a:endParaRPr lang="en-US" dirty="0" smtClean="0"/>
          </a:p>
          <a:p>
            <a:pPr algn="just"/>
            <a:r>
              <a:rPr lang="en-US" dirty="0" smtClean="0"/>
              <a:t>The </a:t>
            </a:r>
            <a:r>
              <a:rPr lang="en-US" dirty="0"/>
              <a:t>digital technological </a:t>
            </a:r>
            <a:r>
              <a:rPr lang="en-US" dirty="0" smtClean="0"/>
              <a:t>breakthroughs </a:t>
            </a:r>
            <a:r>
              <a:rPr lang="en-US" dirty="0"/>
              <a:t>issues and bring patients and doctors closer, regardless of their physical distance. Now a days, the digital technology concerns with </a:t>
            </a:r>
            <a:r>
              <a:rPr lang="en-US" dirty="0" smtClean="0"/>
              <a:t>healthcare </a:t>
            </a:r>
            <a:r>
              <a:rPr lang="en-US" dirty="0"/>
              <a:t>services for making them more affordable and accessible to all </a:t>
            </a:r>
            <a:r>
              <a:rPr lang="en-US" dirty="0" smtClean="0"/>
              <a:t>people</a:t>
            </a:r>
            <a:r>
              <a:rPr lang="en-US" dirty="0"/>
              <a:t>. </a:t>
            </a:r>
            <a:endParaRPr lang="en-US" dirty="0" smtClean="0"/>
          </a:p>
          <a:p>
            <a:pPr algn="just"/>
            <a:r>
              <a:rPr lang="en-US" dirty="0"/>
              <a:t>Here, some of health services that are adaptable and accessible for people are mentioned and explained as follows: </a:t>
            </a:r>
            <a:endParaRPr lang="en-US" dirty="0" smtClean="0"/>
          </a:p>
          <a:p>
            <a:pPr marL="0" indent="0" algn="just">
              <a:buNone/>
            </a:pPr>
            <a:endParaRPr lang="en-US" dirty="0" smtClean="0"/>
          </a:p>
          <a:p>
            <a:pPr marL="914400" lvl="2" indent="0" algn="just">
              <a:buNone/>
            </a:pPr>
            <a:r>
              <a:rPr lang="en-US" sz="2600" dirty="0" smtClean="0">
                <a:solidFill>
                  <a:srgbClr val="FF0000"/>
                </a:solidFill>
              </a:rPr>
              <a:t>I. Mobile </a:t>
            </a:r>
            <a:r>
              <a:rPr lang="en-US" sz="2600" dirty="0">
                <a:solidFill>
                  <a:srgbClr val="FF0000"/>
                </a:solidFill>
              </a:rPr>
              <a:t>health</a:t>
            </a:r>
            <a:r>
              <a:rPr lang="en-US" sz="2600" dirty="0" smtClean="0">
                <a:solidFill>
                  <a:srgbClr val="FF0000"/>
                </a:solidFill>
              </a:rPr>
              <a:t>:</a:t>
            </a:r>
          </a:p>
          <a:p>
            <a:pPr marL="914400" lvl="2" indent="0" algn="just">
              <a:buNone/>
            </a:pPr>
            <a:r>
              <a:rPr lang="en-US" sz="2600" dirty="0">
                <a:solidFill>
                  <a:srgbClr val="FF0000"/>
                </a:solidFill>
              </a:rPr>
              <a:t>ii. Health information </a:t>
            </a:r>
            <a:r>
              <a:rPr lang="en-US" sz="2600" dirty="0" smtClean="0">
                <a:solidFill>
                  <a:srgbClr val="FF0000"/>
                </a:solidFill>
              </a:rPr>
              <a:t>technology:</a:t>
            </a:r>
          </a:p>
          <a:p>
            <a:pPr marL="914400" lvl="2" indent="0" algn="just">
              <a:buNone/>
            </a:pPr>
            <a:r>
              <a:rPr lang="en-US" sz="2600" dirty="0" smtClean="0">
                <a:solidFill>
                  <a:srgbClr val="FF0000"/>
                </a:solidFill>
              </a:rPr>
              <a:t>iii</a:t>
            </a:r>
            <a:r>
              <a:rPr lang="en-US" sz="2600" dirty="0">
                <a:solidFill>
                  <a:srgbClr val="FF0000"/>
                </a:solidFill>
              </a:rPr>
              <a:t>. Precision medicine</a:t>
            </a:r>
            <a:r>
              <a:rPr lang="en-US" sz="2600" dirty="0" smtClean="0">
                <a:solidFill>
                  <a:srgbClr val="FF0000"/>
                </a:solidFill>
              </a:rPr>
              <a:t>:</a:t>
            </a:r>
          </a:p>
          <a:p>
            <a:pPr marL="914400" lvl="2" indent="0" algn="just">
              <a:buNone/>
            </a:pPr>
            <a:r>
              <a:rPr lang="en-US" sz="2600" dirty="0" smtClean="0">
                <a:solidFill>
                  <a:srgbClr val="FF0000"/>
                </a:solidFill>
              </a:rPr>
              <a:t>iv</a:t>
            </a:r>
            <a:r>
              <a:rPr lang="en-US" sz="2600" dirty="0">
                <a:solidFill>
                  <a:srgbClr val="FF0000"/>
                </a:solidFill>
              </a:rPr>
              <a:t>. Predictive analytics</a:t>
            </a:r>
            <a:r>
              <a:rPr lang="en-US" sz="2600" dirty="0" smtClean="0">
                <a:solidFill>
                  <a:srgbClr val="FF0000"/>
                </a:solidFill>
              </a:rPr>
              <a:t>:</a:t>
            </a:r>
          </a:p>
          <a:p>
            <a:pPr marL="914400" lvl="2" indent="0" algn="just">
              <a:buNone/>
            </a:pPr>
            <a:r>
              <a:rPr lang="en-US" sz="2600" dirty="0">
                <a:solidFill>
                  <a:srgbClr val="FF0000"/>
                </a:solidFill>
              </a:rPr>
              <a:t>v. </a:t>
            </a:r>
            <a:r>
              <a:rPr lang="en-US" sz="2600" dirty="0" smtClean="0">
                <a:solidFill>
                  <a:srgbClr val="FF0000"/>
                </a:solidFill>
              </a:rPr>
              <a:t>Tele health </a:t>
            </a:r>
            <a:r>
              <a:rPr lang="en-US" sz="2600" dirty="0">
                <a:solidFill>
                  <a:srgbClr val="FF0000"/>
                </a:solidFill>
              </a:rPr>
              <a:t>and telemedicine</a:t>
            </a:r>
            <a:r>
              <a:rPr lang="en-US" sz="2600" dirty="0" smtClean="0">
                <a:solidFill>
                  <a:srgbClr val="FF0000"/>
                </a:solidFill>
              </a:rPr>
              <a:t>:</a:t>
            </a:r>
          </a:p>
          <a:p>
            <a:pPr marL="914400" lvl="2" indent="0" algn="just">
              <a:buNone/>
            </a:pPr>
            <a:r>
              <a:rPr lang="en-US" sz="2600" dirty="0">
                <a:solidFill>
                  <a:srgbClr val="FF0000"/>
                </a:solidFill>
              </a:rPr>
              <a:t>vi. </a:t>
            </a:r>
            <a:r>
              <a:rPr lang="en-US" sz="2600" dirty="0" err="1">
                <a:solidFill>
                  <a:srgbClr val="FF0000"/>
                </a:solidFill>
              </a:rPr>
              <a:t>Wearables</a:t>
            </a:r>
            <a:r>
              <a:rPr lang="en-US" sz="2600" dirty="0">
                <a:solidFill>
                  <a:srgbClr val="FF0000"/>
                </a:solidFill>
              </a:rPr>
              <a:t>: </a:t>
            </a:r>
            <a:endParaRPr lang="en-US" sz="2600" dirty="0" smtClean="0">
              <a:solidFill>
                <a:srgbClr val="FF0000"/>
              </a:solidFill>
            </a:endParaRPr>
          </a:p>
          <a:p>
            <a:pPr marL="914400" lvl="2" indent="0" algn="just">
              <a:buNone/>
            </a:pPr>
            <a:r>
              <a:rPr lang="en-US" sz="2600" dirty="0">
                <a:solidFill>
                  <a:srgbClr val="FF0000"/>
                </a:solidFill>
              </a:rPr>
              <a:t>vii. </a:t>
            </a:r>
            <a:r>
              <a:rPr lang="en-US" sz="2600" dirty="0" smtClean="0">
                <a:solidFill>
                  <a:srgbClr val="FF0000"/>
                </a:solidFill>
              </a:rPr>
              <a:t>AI-enabled check-ups:</a:t>
            </a:r>
          </a:p>
          <a:p>
            <a:pPr marL="914400" lvl="2" indent="0" algn="just">
              <a:buNone/>
            </a:pPr>
            <a:r>
              <a:rPr lang="en-US" sz="2600" dirty="0">
                <a:solidFill>
                  <a:srgbClr val="FF0000"/>
                </a:solidFill>
              </a:rPr>
              <a:t>viii. Medical Robotics:</a:t>
            </a:r>
            <a:endParaRPr lang="en-US" sz="2600" dirty="0" smtClean="0">
              <a:solidFill>
                <a:srgbClr val="FF0000"/>
              </a:solidFill>
            </a:endParaRPr>
          </a:p>
          <a:p>
            <a:pPr marL="0" indent="0" algn="just">
              <a:buNone/>
            </a:pPr>
            <a:endParaRPr lang="en-US" dirty="0">
              <a:solidFill>
                <a:srgbClr val="FF0000"/>
              </a:solidFill>
            </a:endParaRPr>
          </a:p>
          <a:p>
            <a:pPr marL="0" indent="0" algn="just">
              <a:buNone/>
            </a:pPr>
            <a:endParaRPr lang="en-US" dirty="0"/>
          </a:p>
        </p:txBody>
      </p:sp>
    </p:spTree>
    <p:extLst>
      <p:ext uri="{BB962C8B-B14F-4D97-AF65-F5344CB8AC3E}">
        <p14:creationId xmlns:p14="http://schemas.microsoft.com/office/powerpoint/2010/main" val="18971276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 Electronic governance: </a:t>
            </a:r>
          </a:p>
        </p:txBody>
      </p:sp>
      <p:sp>
        <p:nvSpPr>
          <p:cNvPr id="3" name="Content Placeholder 2"/>
          <p:cNvSpPr>
            <a:spLocks noGrp="1"/>
          </p:cNvSpPr>
          <p:nvPr>
            <p:ph idx="1"/>
          </p:nvPr>
        </p:nvSpPr>
        <p:spPr/>
        <p:txBody>
          <a:bodyPr>
            <a:normAutofit fontScale="92500"/>
          </a:bodyPr>
          <a:lstStyle/>
          <a:p>
            <a:pPr algn="just"/>
            <a:r>
              <a:rPr lang="en-US" dirty="0"/>
              <a:t>Electronic governance or e-governance is the application of information technology to provide a government services, exchange of information, communication, transactions between governments to citizen. </a:t>
            </a:r>
            <a:endParaRPr lang="en-US" dirty="0" smtClean="0"/>
          </a:p>
          <a:p>
            <a:pPr algn="just"/>
            <a:r>
              <a:rPr lang="en-US" dirty="0" smtClean="0"/>
              <a:t>It </a:t>
            </a:r>
            <a:r>
              <a:rPr lang="en-US" dirty="0"/>
              <a:t>may cover different sector such as government to citizen (G2C), government-to-business (G2B), government-to-government (G2G) and government-to-employees (G2E). </a:t>
            </a:r>
            <a:endParaRPr lang="en-US" dirty="0" smtClean="0"/>
          </a:p>
          <a:p>
            <a:pPr algn="just"/>
            <a:r>
              <a:rPr lang="en-US" dirty="0"/>
              <a:t>To increase the administrative effectiveness and efficiency, it is a convenient and simple way. The government products and services can be delivered and conveyed rapidly by help of using these technologies. It works as bridge between the governments a citizen to increase productivity and to extend other benefits to its citizens.</a:t>
            </a:r>
          </a:p>
        </p:txBody>
      </p:sp>
    </p:spTree>
    <p:extLst>
      <p:ext uri="{BB962C8B-B14F-4D97-AF65-F5344CB8AC3E}">
        <p14:creationId xmlns:p14="http://schemas.microsoft.com/office/powerpoint/2010/main" val="20243315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75364"/>
            <a:ext cx="10515600" cy="6001599"/>
          </a:xfrm>
        </p:spPr>
        <p:txBody>
          <a:bodyPr/>
          <a:lstStyle/>
          <a:p>
            <a:r>
              <a:rPr lang="en-US" dirty="0" smtClean="0"/>
              <a:t>It </a:t>
            </a:r>
            <a:r>
              <a:rPr lang="en-US" dirty="0"/>
              <a:t>is an online tool for support and delivers information, sources and articles to public and maintains the communication between the government and people</a:t>
            </a:r>
            <a:r>
              <a:rPr lang="en-US" dirty="0" smtClean="0"/>
              <a:t>.</a:t>
            </a:r>
          </a:p>
          <a:p>
            <a:pPr marL="0" indent="0">
              <a:buNone/>
            </a:pPr>
            <a:r>
              <a:rPr lang="en-US" dirty="0">
                <a:solidFill>
                  <a:srgbClr val="FF0000"/>
                </a:solidFill>
              </a:rPr>
              <a:t>Some advantages of e-governance: </a:t>
            </a:r>
            <a:endParaRPr lang="en-US" dirty="0" smtClean="0">
              <a:solidFill>
                <a:srgbClr val="FF0000"/>
              </a:solidFill>
            </a:endParaRPr>
          </a:p>
          <a:p>
            <a:pPr marL="0" indent="0">
              <a:buNone/>
            </a:pPr>
            <a:r>
              <a:rPr lang="en-US" i="1" dirty="0" smtClean="0"/>
              <a:t>» </a:t>
            </a:r>
            <a:r>
              <a:rPr lang="en-US" i="1" dirty="0"/>
              <a:t>To provide effective and efficient services, </a:t>
            </a:r>
            <a:endParaRPr lang="en-US" i="1" dirty="0" smtClean="0"/>
          </a:p>
          <a:p>
            <a:pPr marL="0" indent="0">
              <a:buNone/>
            </a:pPr>
            <a:r>
              <a:rPr lang="en-US" i="1" dirty="0" smtClean="0"/>
              <a:t>» </a:t>
            </a:r>
            <a:r>
              <a:rPr lang="en-US" i="1" dirty="0"/>
              <a:t>To increase direct support and convenience services for public</a:t>
            </a:r>
            <a:r>
              <a:rPr lang="en-US" i="1" dirty="0" smtClean="0"/>
              <a:t>,</a:t>
            </a:r>
          </a:p>
          <a:p>
            <a:pPr marL="0" indent="0">
              <a:buNone/>
            </a:pPr>
            <a:r>
              <a:rPr lang="en-US" i="1" dirty="0" smtClean="0"/>
              <a:t> </a:t>
            </a:r>
            <a:r>
              <a:rPr lang="en-US" i="1" dirty="0"/>
              <a:t>» To reduce cost of operation and transaction, </a:t>
            </a:r>
            <a:endParaRPr lang="en-US" i="1" dirty="0" smtClean="0"/>
          </a:p>
          <a:p>
            <a:pPr marL="0" indent="0">
              <a:buNone/>
            </a:pPr>
            <a:r>
              <a:rPr lang="en-US" i="1" dirty="0" smtClean="0"/>
              <a:t>» </a:t>
            </a:r>
            <a:r>
              <a:rPr lang="en-US" i="1" dirty="0"/>
              <a:t>To enhance participation of people in government products and services, </a:t>
            </a:r>
            <a:endParaRPr lang="en-US" i="1" dirty="0" smtClean="0"/>
          </a:p>
          <a:p>
            <a:pPr marL="0" indent="0">
              <a:buNone/>
            </a:pPr>
            <a:r>
              <a:rPr lang="en-US" i="1" dirty="0" smtClean="0"/>
              <a:t>» </a:t>
            </a:r>
            <a:r>
              <a:rPr lang="en-US" i="1" dirty="0"/>
              <a:t>To extend approach of accessibility due to the geographical., </a:t>
            </a:r>
            <a:endParaRPr lang="en-US" i="1" dirty="0" smtClean="0"/>
          </a:p>
          <a:p>
            <a:pPr marL="0" indent="0">
              <a:buNone/>
            </a:pPr>
            <a:r>
              <a:rPr lang="en-US" i="1" dirty="0" smtClean="0"/>
              <a:t>» </a:t>
            </a:r>
            <a:r>
              <a:rPr lang="en-US" i="1" dirty="0"/>
              <a:t>To enable more transparency in governance</a:t>
            </a:r>
          </a:p>
        </p:txBody>
      </p:sp>
    </p:spTree>
    <p:extLst>
      <p:ext uri="{BB962C8B-B14F-4D97-AF65-F5344CB8AC3E}">
        <p14:creationId xmlns:p14="http://schemas.microsoft.com/office/powerpoint/2010/main" val="16768038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Concept </a:t>
            </a:r>
            <a:r>
              <a:rPr lang="en-US" dirty="0">
                <a:solidFill>
                  <a:srgbClr val="FF0000"/>
                </a:solidFill>
              </a:rPr>
              <a:t>of Internet of Things (IOT)</a:t>
            </a:r>
          </a:p>
        </p:txBody>
      </p:sp>
      <p:sp>
        <p:nvSpPr>
          <p:cNvPr id="3" name="Content Placeholder 2"/>
          <p:cNvSpPr>
            <a:spLocks noGrp="1"/>
          </p:cNvSpPr>
          <p:nvPr>
            <p:ph idx="1"/>
          </p:nvPr>
        </p:nvSpPr>
        <p:spPr/>
        <p:txBody>
          <a:bodyPr>
            <a:normAutofit lnSpcReduction="10000"/>
          </a:bodyPr>
          <a:lstStyle/>
          <a:p>
            <a:pPr algn="just"/>
            <a:r>
              <a:rPr lang="en-US" dirty="0"/>
              <a:t>People are involving in digital world knowingly or unknowingly. The different types of electronics devices, software, apps, websites, browsers are the necessary things to engage in digital world. </a:t>
            </a:r>
            <a:endParaRPr lang="en-US" dirty="0" smtClean="0"/>
          </a:p>
          <a:p>
            <a:pPr algn="just"/>
            <a:r>
              <a:rPr lang="en-US" dirty="0" smtClean="0"/>
              <a:t>To </a:t>
            </a:r>
            <a:r>
              <a:rPr lang="en-US" dirty="0"/>
              <a:t>establish the connection with these things, Internet is </a:t>
            </a:r>
            <a:r>
              <a:rPr lang="en-US" dirty="0" smtClean="0"/>
              <a:t>necessary.</a:t>
            </a:r>
          </a:p>
          <a:p>
            <a:pPr algn="just"/>
            <a:r>
              <a:rPr lang="en-US" dirty="0" smtClean="0"/>
              <a:t>The </a:t>
            </a:r>
            <a:r>
              <a:rPr lang="en-US" dirty="0"/>
              <a:t>Internet of Things or </a:t>
            </a:r>
            <a:r>
              <a:rPr lang="en-US" dirty="0" err="1"/>
              <a:t>IoT</a:t>
            </a:r>
            <a:r>
              <a:rPr lang="en-US" dirty="0"/>
              <a:t> refers to electronics devices around us that are connected to the internet for all collecting and sharing data and information</a:t>
            </a:r>
            <a:r>
              <a:rPr lang="en-US" dirty="0" smtClean="0"/>
              <a:t>.</a:t>
            </a:r>
          </a:p>
          <a:p>
            <a:pPr algn="just"/>
            <a:r>
              <a:rPr lang="en-US" dirty="0"/>
              <a:t>. For example, television has its own remote controller but we can get access to control television with smart phone after downloading required apps. Similarly, electric bulb, mp3 player, kitchen appliance and other electronic devices can be controlled with smart phone.</a:t>
            </a:r>
            <a:endParaRPr lang="en-US" dirty="0" smtClean="0"/>
          </a:p>
          <a:p>
            <a:pPr algn="just"/>
            <a:endParaRPr lang="en-US" dirty="0"/>
          </a:p>
        </p:txBody>
      </p:sp>
    </p:spTree>
    <p:extLst>
      <p:ext uri="{BB962C8B-B14F-4D97-AF65-F5344CB8AC3E}">
        <p14:creationId xmlns:p14="http://schemas.microsoft.com/office/powerpoint/2010/main" val="5310521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96214"/>
            <a:ext cx="10515600" cy="5880749"/>
          </a:xfrm>
        </p:spPr>
        <p:txBody>
          <a:bodyPr/>
          <a:lstStyle/>
          <a:p>
            <a:pPr algn="just"/>
            <a:r>
              <a:rPr lang="en-US" dirty="0"/>
              <a:t>A smart thermostat connected streetlight turn on/off automatically without human interference. A GPS sensor and motion sensor continuously transmits user information to any user through Internet</a:t>
            </a:r>
            <a:r>
              <a:rPr lang="en-US" dirty="0" smtClean="0"/>
              <a:t>.</a:t>
            </a:r>
          </a:p>
          <a:p>
            <a:pPr algn="just"/>
            <a:r>
              <a:rPr lang="en-US" dirty="0" smtClean="0"/>
              <a:t> </a:t>
            </a:r>
            <a:r>
              <a:rPr lang="en-US" dirty="0"/>
              <a:t>The weather forecasting apps providing us continuous reports of weather of whole world through Internet. In this way, people are becoming smarter and responsive by using such the Internet of things. People, process and things are fundamental requirement of Internet of Things.</a:t>
            </a:r>
          </a:p>
        </p:txBody>
      </p:sp>
    </p:spTree>
    <p:extLst>
      <p:ext uri="{BB962C8B-B14F-4D97-AF65-F5344CB8AC3E}">
        <p14:creationId xmlns:p14="http://schemas.microsoft.com/office/powerpoint/2010/main" val="3587949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699"/>
            <a:ext cx="10515600" cy="875763"/>
          </a:xfrm>
        </p:spPr>
        <p:txBody>
          <a:bodyPr>
            <a:normAutofit fontScale="90000"/>
          </a:bodyPr>
          <a:lstStyle/>
          <a:p>
            <a:r>
              <a:rPr lang="en-US" sz="4000" dirty="0" smtClean="0">
                <a:solidFill>
                  <a:srgbClr val="FF0000"/>
                </a:solidFill>
              </a:rPr>
              <a:t/>
            </a:r>
            <a:br>
              <a:rPr lang="en-US" sz="4000" dirty="0" smtClean="0">
                <a:solidFill>
                  <a:srgbClr val="FF0000"/>
                </a:solidFill>
              </a:rPr>
            </a:br>
            <a:r>
              <a:rPr lang="en-US" sz="4000" dirty="0" smtClean="0">
                <a:solidFill>
                  <a:srgbClr val="FF0000"/>
                </a:solidFill>
              </a:rPr>
              <a:t>Some </a:t>
            </a:r>
            <a:r>
              <a:rPr lang="en-US" sz="4000" dirty="0">
                <a:solidFill>
                  <a:srgbClr val="FF0000"/>
                </a:solidFill>
              </a:rPr>
              <a:t>characteristics of Internet of things as follows: </a:t>
            </a:r>
            <a:r>
              <a:rPr lang="en-US" dirty="0"/>
              <a:t/>
            </a:r>
            <a:br>
              <a:rPr lang="en-US" dirty="0"/>
            </a:br>
            <a:endParaRPr lang="en-US" dirty="0"/>
          </a:p>
        </p:txBody>
      </p:sp>
      <p:sp>
        <p:nvSpPr>
          <p:cNvPr id="3" name="Content Placeholder 2"/>
          <p:cNvSpPr>
            <a:spLocks noGrp="1"/>
          </p:cNvSpPr>
          <p:nvPr>
            <p:ph idx="1"/>
          </p:nvPr>
        </p:nvSpPr>
        <p:spPr>
          <a:xfrm>
            <a:off x="838200" y="978794"/>
            <a:ext cx="10515600" cy="5198169"/>
          </a:xfrm>
        </p:spPr>
        <p:txBody>
          <a:bodyPr>
            <a:normAutofit fontScale="92500" lnSpcReduction="20000"/>
          </a:bodyPr>
          <a:lstStyle/>
          <a:p>
            <a:pPr marL="514350" indent="-514350" algn="just">
              <a:buAutoNum type="alphaLcPeriod"/>
            </a:pPr>
            <a:r>
              <a:rPr lang="en-US" dirty="0" smtClean="0">
                <a:solidFill>
                  <a:srgbClr val="FF0000"/>
                </a:solidFill>
              </a:rPr>
              <a:t>Connectivity</a:t>
            </a:r>
            <a:r>
              <a:rPr lang="en-US" dirty="0">
                <a:solidFill>
                  <a:srgbClr val="FF0000"/>
                </a:solidFill>
              </a:rPr>
              <a:t>:</a:t>
            </a:r>
            <a:r>
              <a:rPr lang="en-US" dirty="0"/>
              <a:t> Internet of things (</a:t>
            </a:r>
            <a:r>
              <a:rPr lang="en-US" dirty="0" err="1"/>
              <a:t>IoT</a:t>
            </a:r>
            <a:r>
              <a:rPr lang="en-US" dirty="0"/>
              <a:t>) are connect with </a:t>
            </a:r>
            <a:r>
              <a:rPr lang="en-US" dirty="0" err="1"/>
              <a:t>IoT</a:t>
            </a:r>
            <a:r>
              <a:rPr lang="en-US" dirty="0"/>
              <a:t> platform for reliable and bi- directional communication and messaging. A </a:t>
            </a:r>
            <a:r>
              <a:rPr lang="en-US" dirty="0" err="1"/>
              <a:t>IoT</a:t>
            </a:r>
            <a:r>
              <a:rPr lang="en-US" dirty="0"/>
              <a:t> platform may be server or cloud. </a:t>
            </a:r>
          </a:p>
          <a:p>
            <a:pPr marL="514350" indent="-514350" algn="just">
              <a:buAutoNum type="alphaLcPeriod"/>
            </a:pPr>
            <a:r>
              <a:rPr lang="en-US" dirty="0" smtClean="0">
                <a:solidFill>
                  <a:srgbClr val="FF0000"/>
                </a:solidFill>
              </a:rPr>
              <a:t>Analyzing</a:t>
            </a:r>
            <a:r>
              <a:rPr lang="en-US" dirty="0">
                <a:solidFill>
                  <a:srgbClr val="FF0000"/>
                </a:solidFill>
              </a:rPr>
              <a:t>:</a:t>
            </a:r>
            <a:r>
              <a:rPr lang="en-US" dirty="0"/>
              <a:t> It is necessary to real-time analyzing of collected data to build effective business intelligence and use </a:t>
            </a:r>
            <a:r>
              <a:rPr lang="en-US" dirty="0" smtClean="0"/>
              <a:t>them.</a:t>
            </a:r>
          </a:p>
          <a:p>
            <a:pPr marL="514350" indent="-514350" algn="just">
              <a:buAutoNum type="alphaLcPeriod"/>
            </a:pPr>
            <a:r>
              <a:rPr lang="en-US" dirty="0" smtClean="0">
                <a:solidFill>
                  <a:srgbClr val="FF0000"/>
                </a:solidFill>
              </a:rPr>
              <a:t>Integrating</a:t>
            </a:r>
            <a:r>
              <a:rPr lang="en-US" dirty="0">
                <a:solidFill>
                  <a:srgbClr val="FF0000"/>
                </a:solidFill>
              </a:rPr>
              <a:t>:</a:t>
            </a:r>
            <a:r>
              <a:rPr lang="en-US" dirty="0"/>
              <a:t> To make data readable, understandable and user friendly, integration of data is appreciated. It improves the quality of information and presents it in various </a:t>
            </a:r>
            <a:r>
              <a:rPr lang="en-US" dirty="0" smtClean="0"/>
              <a:t>models.</a:t>
            </a:r>
          </a:p>
          <a:p>
            <a:pPr marL="514350" indent="-514350" algn="just">
              <a:buAutoNum type="alphaLcPeriod"/>
            </a:pPr>
            <a:r>
              <a:rPr lang="en-US" dirty="0" smtClean="0">
                <a:solidFill>
                  <a:srgbClr val="FF0000"/>
                </a:solidFill>
              </a:rPr>
              <a:t>Sensing</a:t>
            </a:r>
            <a:r>
              <a:rPr lang="en-US" dirty="0">
                <a:solidFill>
                  <a:srgbClr val="FF0000"/>
                </a:solidFill>
              </a:rPr>
              <a:t>:</a:t>
            </a:r>
            <a:r>
              <a:rPr lang="en-US" dirty="0"/>
              <a:t> It is important parts of </a:t>
            </a:r>
            <a:r>
              <a:rPr lang="en-US" dirty="0" err="1"/>
              <a:t>IoT</a:t>
            </a:r>
            <a:r>
              <a:rPr lang="en-US" dirty="0"/>
              <a:t>. The sensor devices are used to detect and measure any change in the environment. Instantly, it reports updated </a:t>
            </a:r>
            <a:r>
              <a:rPr lang="en-US" dirty="0" smtClean="0"/>
              <a:t>status.</a:t>
            </a:r>
          </a:p>
          <a:p>
            <a:pPr marL="514350" indent="-514350" algn="just">
              <a:buAutoNum type="alphaLcPeriod"/>
            </a:pPr>
            <a:r>
              <a:rPr lang="en-US" dirty="0" smtClean="0">
                <a:solidFill>
                  <a:srgbClr val="FF0000"/>
                </a:solidFill>
              </a:rPr>
              <a:t>Active </a:t>
            </a:r>
            <a:r>
              <a:rPr lang="en-US" dirty="0">
                <a:solidFill>
                  <a:srgbClr val="FF0000"/>
                </a:solidFill>
              </a:rPr>
              <a:t>Engagement: </a:t>
            </a:r>
            <a:r>
              <a:rPr lang="en-US" dirty="0"/>
              <a:t>The services, products or information generated by </a:t>
            </a:r>
            <a:r>
              <a:rPr lang="en-US" dirty="0" err="1"/>
              <a:t>IoT</a:t>
            </a:r>
            <a:r>
              <a:rPr lang="en-US" dirty="0"/>
              <a:t> becomes fruitful depend upon engagement of </a:t>
            </a:r>
            <a:r>
              <a:rPr lang="en-US" dirty="0" smtClean="0"/>
              <a:t>user.</a:t>
            </a:r>
          </a:p>
          <a:p>
            <a:pPr marL="514350" indent="-514350" algn="just">
              <a:buAutoNum type="alphaLcPeriod"/>
            </a:pPr>
            <a:r>
              <a:rPr lang="en-US" dirty="0" smtClean="0">
                <a:solidFill>
                  <a:srgbClr val="FF0000"/>
                </a:solidFill>
              </a:rPr>
              <a:t>Endpoint </a:t>
            </a:r>
            <a:r>
              <a:rPr lang="en-US" dirty="0">
                <a:solidFill>
                  <a:srgbClr val="FF0000"/>
                </a:solidFill>
              </a:rPr>
              <a:t>Management: </a:t>
            </a:r>
            <a:r>
              <a:rPr lang="en-US" dirty="0"/>
              <a:t>Endpoint management indicates the successor of all </a:t>
            </a:r>
            <a:r>
              <a:rPr lang="en-US" dirty="0" err="1"/>
              <a:t>IoT</a:t>
            </a:r>
            <a:r>
              <a:rPr lang="en-US" dirty="0"/>
              <a:t> and its application. </a:t>
            </a:r>
          </a:p>
        </p:txBody>
      </p:sp>
    </p:spTree>
    <p:extLst>
      <p:ext uri="{BB962C8B-B14F-4D97-AF65-F5344CB8AC3E}">
        <p14:creationId xmlns:p14="http://schemas.microsoft.com/office/powerpoint/2010/main" val="17600377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Concept of Virtual Reality</a:t>
            </a:r>
          </a:p>
        </p:txBody>
      </p:sp>
      <p:sp>
        <p:nvSpPr>
          <p:cNvPr id="3" name="Content Placeholder 2"/>
          <p:cNvSpPr>
            <a:spLocks noGrp="1"/>
          </p:cNvSpPr>
          <p:nvPr>
            <p:ph idx="1"/>
          </p:nvPr>
        </p:nvSpPr>
        <p:spPr/>
        <p:txBody>
          <a:bodyPr>
            <a:normAutofit fontScale="92500" lnSpcReduction="10000"/>
          </a:bodyPr>
          <a:lstStyle/>
          <a:p>
            <a:pPr algn="just"/>
            <a:r>
              <a:rPr lang="en-US" dirty="0"/>
              <a:t>The virtual reality systems use virtual reality headsets to generate realistic images, sounds and other sensations that simulate a user's physical presence in a virtual environment. </a:t>
            </a:r>
            <a:endParaRPr lang="en-US" dirty="0" smtClean="0"/>
          </a:p>
          <a:p>
            <a:pPr algn="just"/>
            <a:r>
              <a:rPr lang="en-US" dirty="0"/>
              <a:t>A person using virtual reality equipment is able to look around the artificial world, move around in it, and interact with virtual features or items. </a:t>
            </a:r>
            <a:endParaRPr lang="en-US" dirty="0" smtClean="0"/>
          </a:p>
          <a:p>
            <a:pPr algn="just"/>
            <a:r>
              <a:rPr lang="en-US" dirty="0" smtClean="0"/>
              <a:t>The </a:t>
            </a:r>
            <a:r>
              <a:rPr lang="en-US" dirty="0"/>
              <a:t>effect is commonly created by VR headsets consisting of a head-mounted display with a small screen in front of the eyes. It can also be created through specially designed rooms with multiple large screens</a:t>
            </a:r>
            <a:r>
              <a:rPr lang="en-US" dirty="0" smtClean="0"/>
              <a:t>.</a:t>
            </a:r>
          </a:p>
          <a:p>
            <a:pPr algn="just"/>
            <a:r>
              <a:rPr lang="en-US" dirty="0" smtClean="0"/>
              <a:t> </a:t>
            </a:r>
            <a:r>
              <a:rPr lang="en-US" dirty="0"/>
              <a:t>Virtual reality can be the simulation of a real environment for training and education and the development of an imagined environment for a game or interactive story.</a:t>
            </a:r>
          </a:p>
        </p:txBody>
      </p:sp>
    </p:spTree>
    <p:extLst>
      <p:ext uri="{BB962C8B-B14F-4D97-AF65-F5344CB8AC3E}">
        <p14:creationId xmlns:p14="http://schemas.microsoft.com/office/powerpoint/2010/main" val="32087604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34851"/>
            <a:ext cx="10515600" cy="5842112"/>
          </a:xfrm>
        </p:spPr>
        <p:txBody>
          <a:bodyPr/>
          <a:lstStyle/>
          <a:p>
            <a:pPr algn="just"/>
            <a:r>
              <a:rPr lang="en-US" dirty="0"/>
              <a:t>Virtual Reality (VR) is the use of computer technology to create a simulated environment. This environment is used for entertainment applications such as video games and 3D cinema, training and education purpose, safety and health purposes. </a:t>
            </a:r>
          </a:p>
          <a:p>
            <a:pPr marL="0" indent="0" algn="just">
              <a:buNone/>
            </a:pPr>
            <a:r>
              <a:rPr lang="en-US" dirty="0" smtClean="0">
                <a:solidFill>
                  <a:srgbClr val="FF0000"/>
                </a:solidFill>
              </a:rPr>
              <a:t>Application </a:t>
            </a:r>
            <a:r>
              <a:rPr lang="en-US" dirty="0">
                <a:solidFill>
                  <a:srgbClr val="FF0000"/>
                </a:solidFill>
              </a:rPr>
              <a:t>of VR: </a:t>
            </a:r>
            <a:endParaRPr lang="en-US" dirty="0" smtClean="0">
              <a:solidFill>
                <a:srgbClr val="FF0000"/>
              </a:solidFill>
            </a:endParaRPr>
          </a:p>
          <a:p>
            <a:pPr marL="514350" indent="-514350" algn="just">
              <a:buAutoNum type="alphaLcPeriod"/>
            </a:pPr>
            <a:r>
              <a:rPr lang="en-US" dirty="0" smtClean="0"/>
              <a:t>Entertainment</a:t>
            </a:r>
            <a:r>
              <a:rPr lang="en-US" dirty="0"/>
              <a:t>: </a:t>
            </a:r>
            <a:endParaRPr lang="en-US" dirty="0" smtClean="0"/>
          </a:p>
          <a:p>
            <a:pPr marL="0" indent="0" algn="just">
              <a:buNone/>
            </a:pPr>
            <a:r>
              <a:rPr lang="en-US" dirty="0" smtClean="0"/>
              <a:t>b. </a:t>
            </a:r>
            <a:r>
              <a:rPr lang="en-US" dirty="0"/>
              <a:t>Education</a:t>
            </a:r>
            <a:r>
              <a:rPr lang="en-US" dirty="0" smtClean="0"/>
              <a:t>:</a:t>
            </a:r>
          </a:p>
          <a:p>
            <a:pPr marL="0" indent="0" algn="just">
              <a:buNone/>
            </a:pPr>
            <a:r>
              <a:rPr lang="en-US" dirty="0"/>
              <a:t>c. Health</a:t>
            </a:r>
            <a:r>
              <a:rPr lang="en-US" dirty="0" smtClean="0"/>
              <a:t>:</a:t>
            </a:r>
          </a:p>
          <a:p>
            <a:pPr marL="0" indent="0" algn="just">
              <a:buNone/>
            </a:pPr>
            <a:r>
              <a:rPr lang="en-US" dirty="0"/>
              <a:t>d. Manufacturing</a:t>
            </a:r>
            <a:r>
              <a:rPr lang="en-US" dirty="0" smtClean="0"/>
              <a:t>:</a:t>
            </a:r>
          </a:p>
          <a:p>
            <a:pPr marL="0" indent="0" algn="just">
              <a:buNone/>
            </a:pPr>
            <a:r>
              <a:rPr lang="en-US" dirty="0"/>
              <a:t>e. Tourism and Advertisement:</a:t>
            </a:r>
            <a:endParaRPr lang="en-US" dirty="0">
              <a:solidFill>
                <a:srgbClr val="FF0000"/>
              </a:solidFill>
            </a:endParaRPr>
          </a:p>
        </p:txBody>
      </p:sp>
    </p:spTree>
    <p:extLst>
      <p:ext uri="{BB962C8B-B14F-4D97-AF65-F5344CB8AC3E}">
        <p14:creationId xmlns:p14="http://schemas.microsoft.com/office/powerpoint/2010/main" val="5710544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TotalTime>
  <Words>3046</Words>
  <Application>Microsoft Office PowerPoint</Application>
  <PresentationFormat>Custom</PresentationFormat>
  <Paragraphs>163</Paragraphs>
  <Slides>30</Slides>
  <Notes>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UNIT-7</vt:lpstr>
      <vt:lpstr>PowerPoint Presentation</vt:lpstr>
      <vt:lpstr>Concept of Artificial Intelligence (AI) and Robotics</vt:lpstr>
      <vt:lpstr>Applications of AI:  AI has been dominant in various fields such as: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Concept of e-commerce, e-medicine,   e-governance </vt:lpstr>
      <vt:lpstr>PowerPoint Presentation</vt:lpstr>
      <vt:lpstr>PowerPoint Presentation</vt:lpstr>
      <vt:lpstr>PowerPoint Presentation</vt:lpstr>
      <vt:lpstr>c. Electronic governance: </vt:lpstr>
      <vt:lpstr>PowerPoint Presentation</vt:lpstr>
      <vt:lpstr>Concept of Internet of Things (IOT)</vt:lpstr>
      <vt:lpstr>PowerPoint Presentation</vt:lpstr>
      <vt:lpstr> Some characteristics of Internet of things as follows:  </vt:lpstr>
      <vt:lpstr>Concept of Virtual Reality</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UNIT-7</dc:title>
  <dc:creator>user</dc:creator>
  <cp:lastModifiedBy>Rupesh Chaudhary</cp:lastModifiedBy>
  <cp:revision>14</cp:revision>
  <dcterms:created xsi:type="dcterms:W3CDTF">2021-09-23T13:17:14Z</dcterms:created>
  <dcterms:modified xsi:type="dcterms:W3CDTF">2022-01-23T03:31:52Z</dcterms:modified>
</cp:coreProperties>
</file>